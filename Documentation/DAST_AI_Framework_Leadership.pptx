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7" r:id="rId6"/>
    <p:sldId id="265" r:id="rId7"/>
    <p:sldId id="266" r:id="rId8"/>
    <p:sldId id="267" r:id="rId9"/>
    <p:sldId id="268" r:id="rId10"/>
    <p:sldId id="278" r:id="rId11"/>
    <p:sldId id="270" r:id="rId12"/>
    <p:sldId id="280" r:id="rId13"/>
    <p:sldId id="281" r:id="rId14"/>
    <p:sldId id="282" r:id="rId15"/>
    <p:sldId id="279" r:id="rId1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99432" y="0"/>
            <a:ext cx="502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188720"/>
            <a:ext cx="1828800" cy="18288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1887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🛡️</a:t>
            </a:r>
            <a:endParaRPr sz="5200" b="0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3291840"/>
            <a:ext cx="4059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DAST AI</a:t>
            </a:r>
            <a:endParaRPr sz="30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3877056"/>
            <a:ext cx="4059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</a:rPr>
              <a:t>FRAMEWORK</a:t>
            </a:r>
            <a:endParaRPr sz="1300" b="1" i="0">
              <a:solidFill>
                <a:srgbClr val="0284C7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4352544"/>
            <a:ext cx="3511296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443984"/>
            <a:ext cx="4059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Accenture Security  ·  2026</a:t>
            </a:r>
            <a:endParaRPr sz="900" b="0" i="0">
              <a:solidFill>
                <a:srgbClr val="64748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9472" y="1261872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84C7"/>
                </a:solidFill>
              </a:rPr>
              <a:t>ENTERPRISE SECURITY INTELLIGENCE — DELIVERED THROUGH YOUR BROWSER</a:t>
            </a:r>
            <a:endParaRPr sz="950" b="1" i="0">
              <a:solidFill>
                <a:srgbClr val="0284C7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9472" y="1719072"/>
            <a:ext cx="70408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E35"/>
                </a:solidFill>
              </a:rPr>
              <a:t>Browser-First
Security Platform</a:t>
            </a:r>
            <a:endParaRPr sz="3600" b="1" i="0">
              <a:solidFill>
                <a:srgbClr val="0F1E3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19472" y="3200400"/>
            <a:ext cx="70408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3310128"/>
            <a:ext cx="7040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E293B"/>
                </a:solidFill>
              </a:rPr>
              <a:t>AI-powered DAST platform with browser dashboard. Launch scans, triage findings, and download board-ready reports — no CLI required. Powered by local AI (Ollama / Claude / GPT). Fully on-premise.</a:t>
            </a:r>
            <a:endParaRPr sz="1150" b="0" i="1">
              <a:solidFill>
                <a:srgbClr val="1E293B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919472" y="4352544"/>
            <a:ext cx="850392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389120"/>
            <a:ext cx="75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4C7"/>
                </a:solidFill>
              </a:rPr>
              <a:t>Web UI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879592" y="4352544"/>
            <a:ext cx="1042415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4389120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4C7"/>
                </a:solidFill>
              </a:rPr>
              <a:t>REST API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031736" y="4352544"/>
            <a:ext cx="113842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5" y="4389120"/>
            <a:ext cx="10469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4C7"/>
                </a:solidFill>
              </a:rPr>
              <a:t>Multi-LLM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79892" y="4352544"/>
            <a:ext cx="1234440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5612" y="438912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4C7"/>
                </a:solidFill>
              </a:rPr>
              <a:t>On-Premise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24060" y="4352544"/>
            <a:ext cx="1426464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9780" y="4389120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4C7"/>
                </a:solidFill>
              </a:rPr>
              <a:t>OWASP Top 10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19472" y="6144768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jagdish.salunke@accenture.com</a:t>
            </a:r>
            <a:endParaRPr sz="1000" b="0" i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BUSINESS CASE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Challenge &amp; Our Solution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02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78992"/>
            <a:ext cx="5623560" cy="537667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78992"/>
            <a:ext cx="562356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097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PAIN POINTS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1682496"/>
            <a:ext cx="5477256" cy="987552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682496"/>
            <a:ext cx="5029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746504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</a:rPr>
              <a:t>  Alert Fatigue</a:t>
            </a:r>
            <a:endParaRPr sz="1050" b="1" i="0">
              <a:solidFill>
                <a:srgbClr val="DC262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2336" y="2048256"/>
            <a:ext cx="5230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60–70% of analyst time wasted on false positives. Critical findings buried in noise.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2761488"/>
            <a:ext cx="5477256" cy="987552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761488"/>
            <a:ext cx="5029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825496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</a:rPr>
              <a:t>  Inconsistent Scoring</a:t>
            </a:r>
            <a:endParaRPr sz="1050" b="1" i="0">
              <a:solidFill>
                <a:srgbClr val="DC2626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2336" y="3127248"/>
            <a:ext cx="5230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Raw scanner output has no business context or AI calibration. Teams act on wrong priorities.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5477256" cy="987552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5029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3904488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</a:rPr>
              <a:t>  Tool Sprawl</a:t>
            </a:r>
            <a:endParaRPr sz="1050" b="1" i="0">
              <a:solidFill>
                <a:srgbClr val="DC262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2336" y="4206240"/>
            <a:ext cx="5230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ZAP, Nmap, recon outputs are siloed. No unified risk picture or cross-tool correlation.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4919472"/>
            <a:ext cx="5477256" cy="987552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919472"/>
            <a:ext cx="5029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49834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</a:rPr>
              <a:t>  No Web Access</a:t>
            </a:r>
            <a:endParaRPr sz="1050" b="1" i="0">
              <a:solidFill>
                <a:srgbClr val="DC2626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2336" y="5285232"/>
            <a:ext cx="5230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Security tools locked to CLI. No team collaboration, scheduling, or shared visibility.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3056" y="1078992"/>
            <a:ext cx="5833872" cy="537667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1078992"/>
            <a:ext cx="5833872" cy="40233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DAST AI FRAMEWORK DELIVERS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36208" y="1682496"/>
            <a:ext cx="5687568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1682496"/>
            <a:ext cx="50292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174650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</a:rPr>
              <a:t>  AI Noise Filter</a:t>
            </a:r>
            <a:endParaRPr sz="1050" b="1" i="0">
              <a:solidFill>
                <a:srgbClr val="0284C7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64224" y="2048256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40–60% false positive reduction via hybrid AI + rule engine. Analyst time focused on real risk.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36208" y="2761488"/>
            <a:ext cx="5687568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2761488"/>
            <a:ext cx="50292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282549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</a:rPr>
              <a:t>  LLM Risk Scoring</a:t>
            </a:r>
            <a:endParaRPr sz="1050" b="1" i="0">
              <a:solidFill>
                <a:srgbClr val="0284C7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64224" y="3127248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Every finding re-scored with OWASP context and exploit likelihood. Accurate, risk-ordered output.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36208" y="3840480"/>
            <a:ext cx="5687568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3840480"/>
            <a:ext cx="50292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390448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</a:rPr>
              <a:t>  Unified Pipeline</a:t>
            </a:r>
            <a:endParaRPr sz="1050" b="1" i="0">
              <a:solidFill>
                <a:srgbClr val="0284C7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4224" y="4206240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ZAP + Nmap + AI merged into one normalised finding set with full cross-tool correlation.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36208" y="4919472"/>
            <a:ext cx="5687568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36208" y="4919472"/>
            <a:ext cx="50292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49834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</a:rPr>
              <a:t>  Browser Dashboard</a:t>
            </a:r>
            <a:endParaRPr sz="1050" b="1" i="0">
              <a:solidFill>
                <a:srgbClr val="0284C7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64224" y="5285232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Full scan-to-report in the browser. RBAC for the whole team. No CLI knowledge required.</a:t>
            </a:r>
            <a:endParaRPr sz="9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BUSINESS IMPACT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Capabilities &amp; Impact Metrics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03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6032" y="1078992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078992"/>
            <a:ext cx="3703320" cy="5943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1188719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84C7"/>
                </a:solidFill>
              </a:rPr>
              <a:t>40–60%</a:t>
            </a:r>
            <a:endParaRPr sz="2800" b="1" i="0">
              <a:solidFill>
                <a:srgbClr val="0284C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1752" y="1991197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False Positive
Reduction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33672" y="1078992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078992"/>
            <a:ext cx="3703320" cy="594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188719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92%+</a:t>
            </a:r>
            <a:endParaRPr sz="2800" b="1" i="0">
              <a:solidFill>
                <a:srgbClr val="16A34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392" y="1991197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AI Severity
Accuracy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11311" y="1078992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1" y="1078992"/>
            <a:ext cx="370332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188719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7 Formats</a:t>
            </a:r>
            <a:endParaRPr sz="2800" b="1" i="0">
              <a:solidFill>
                <a:srgbClr val="2563E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57031" y="1991197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One-Click Report
Download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56032" y="2852928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2852928"/>
            <a:ext cx="3703320" cy="59436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962656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634D4"/>
                </a:solidFill>
              </a:rPr>
              <a:t>3 LLM</a:t>
            </a:r>
            <a:endParaRPr sz="2800" b="1" i="0">
              <a:solidFill>
                <a:srgbClr val="5634D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1752" y="3765133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Claude · GPT · Ollama
Providers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33672" y="2852928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3672" y="2852928"/>
            <a:ext cx="3703320" cy="594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2962656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580C"/>
                </a:solidFill>
              </a:rPr>
              <a:t>RBAC</a:t>
            </a:r>
            <a:endParaRPr sz="2800" b="1" i="0">
              <a:solidFill>
                <a:srgbClr val="EA580C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79392" y="3765133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Team-Ready
Multi-User Access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8211311" y="2852928"/>
            <a:ext cx="3703320" cy="1572768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11311" y="2852928"/>
            <a:ext cx="3703320" cy="594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2962656"/>
            <a:ext cx="3611879" cy="81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</a:rPr>
              <a:t>Zero CLI</a:t>
            </a:r>
            <a:endParaRPr sz="2800" b="1" i="0">
              <a:solidFill>
                <a:srgbClr val="0891B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7031" y="3765133"/>
            <a:ext cx="3611879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Browser-First
Operation</a:t>
            </a:r>
            <a:endParaRPr sz="850" b="0" i="0">
              <a:solidFill>
                <a:srgbClr val="1E293B"/>
              </a:solidFill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4645152"/>
            <a:ext cx="3977639" cy="1828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4572000"/>
            <a:ext cx="3977639" cy="192024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4572000"/>
            <a:ext cx="336499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AI ARCHITECTURE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7-Pillar AI Architecture &amp; Scan Pipeline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09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78992"/>
            <a:ext cx="1591056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P1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</a:rPr>
              <a:t>Auth &amp;
Session</a:t>
            </a:r>
            <a:endParaRPr sz="1150" b="1" i="0">
              <a:solidFill>
                <a:srgbClr val="0284C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304288"/>
            <a:ext cx="14447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HAR · Form · TOTP
Watchdog re-auth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1883664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1078992"/>
            <a:ext cx="159105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P2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83664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FP
Reduction</a:t>
            </a:r>
            <a:endParaRPr sz="1150" b="1" i="0">
              <a:solidFill>
                <a:srgbClr val="16A34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56816" y="2304288"/>
            <a:ext cx="14447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AI + Rule hybrid
40–60% noise cut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3566160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1078992"/>
            <a:ext cx="159105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P3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66160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563EB"/>
                </a:solidFill>
              </a:rPr>
              <a:t>AI
Priority</a:t>
            </a:r>
            <a:endParaRPr sz="1150" b="1" i="0">
              <a:solidFill>
                <a:srgbClr val="2563E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39312" y="2304288"/>
            <a:ext cx="14447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1024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OWASP scoring
Exploit ranking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5248656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48656" y="1078992"/>
            <a:ext cx="1591056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8656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P4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48656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A580C"/>
                </a:solidFill>
              </a:rPr>
              <a:t>Policy
Optimize</a:t>
            </a:r>
            <a:endParaRPr sz="1150" b="1" i="0">
              <a:solidFill>
                <a:srgbClr val="EA580C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21808" y="2304288"/>
            <a:ext cx="1444752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ZAP policy tuning
A/B scan compare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931152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31152" y="1078992"/>
            <a:ext cx="1591056" cy="347472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P5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31152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634D4"/>
                </a:solidFill>
              </a:rPr>
              <a:t>Trend
Analysis</a:t>
            </a:r>
            <a:endParaRPr sz="1150" b="1" i="0">
              <a:solidFill>
                <a:srgbClr val="5634D4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004304" y="2304288"/>
            <a:ext cx="1444752" cy="36576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Lineage tracking
Regression detect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13648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3648" y="1078992"/>
            <a:ext cx="1591056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3648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P6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13648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891B2"/>
                </a:solidFill>
              </a:rPr>
              <a:t>AI
Documentation</a:t>
            </a:r>
            <a:endParaRPr sz="1150" b="1" i="0">
              <a:solidFill>
                <a:srgbClr val="0891B2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686800" y="2304288"/>
            <a:ext cx="1444752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2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Exec summary
OWASP mapping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296144" y="1078992"/>
            <a:ext cx="1591056" cy="234086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96144" y="1078992"/>
            <a:ext cx="1591056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96144" y="11155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P7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96144" y="1463039"/>
            <a:ext cx="1591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AI
Validation</a:t>
            </a:r>
            <a:endParaRPr sz="1150" b="1" i="0">
              <a:solidFill>
                <a:srgbClr val="DC2626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369296" y="2304288"/>
            <a:ext cx="144475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51008" y="2395728"/>
            <a:ext cx="148132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Accuracy scoring
92%+ agreement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201168" y="3547872"/>
            <a:ext cx="11786616" cy="3474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01168" y="3547872"/>
            <a:ext cx="54864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60273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84C7"/>
                </a:solidFill>
              </a:rPr>
              <a:t>All 7 pillars run automatically when you click  Start Scan  in the web UI — no command line needed.</a:t>
            </a:r>
            <a:endParaRPr sz="950" b="1" i="0">
              <a:solidFill>
                <a:srgbClr val="0284C7"/>
              </a:solidFill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968496"/>
            <a:ext cx="11795760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AI DEEP DIVE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Engine &amp; False Positive Intelligence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10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24128"/>
            <a:ext cx="5394960" cy="543153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24128"/>
            <a:ext cx="5394960" cy="384048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05156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Enrichment Engine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554480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0934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Model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44752" y="1609344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Ollama qwen2.5 — local LLM, zero data exfiltration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2212848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212848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6771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Batch Size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44752" y="2267712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8 findings per prompt — parallel async batches for speed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2871215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871215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26079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Prompt Cache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44752" y="2926079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SHA-256 keyed — instant replay on re-runs (DB-backed)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3529584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529584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58444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Enrichment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44752" y="3584448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Severity re-score · OWASP mapping · Exploit scenario
Remediation steps · Risk narrative · Priority score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4187952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187952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24281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Auth Analysis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44752" y="4242816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Parses auth.log — session health score · failure patterns
401/403 sequences · expiry detection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4320" y="4846320"/>
            <a:ext cx="1115568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45720" cy="54864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901183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634D4"/>
                </a:solidFill>
              </a:rPr>
              <a:t>Accuracy</a:t>
            </a:r>
            <a:endParaRPr sz="850" b="1" i="0">
              <a:solidFill>
                <a:srgbClr val="5634D4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44752" y="4901183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92%+ severity agreement vs original scanner (PILLAR 7)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5961888" y="1024128"/>
            <a:ext cx="6016752" cy="265176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61888" y="1024128"/>
            <a:ext cx="6016752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08192" y="1051560"/>
            <a:ext cx="5779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Analysis Engine — Hybrid AI + Rule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053328" y="1517904"/>
            <a:ext cx="5833872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53328" y="1517904"/>
            <a:ext cx="50292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15727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Phase 1 — AI Verdict  (always runs)</a:t>
            </a:r>
            <a:endParaRPr sz="950" b="1" i="0">
              <a:solidFill>
                <a:srgbClr val="16A34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99632" y="184708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Every finding → LLM prompt → verdict:
True Positive · Likely FP · Needs Manual Review
+ Confidence % + Reason text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053328" y="2615184"/>
            <a:ext cx="5833872" cy="987552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53328" y="2615184"/>
            <a:ext cx="50292" cy="9875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2670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Phase 2 — Rule Tiebreaker  (low-confidence only)</a:t>
            </a:r>
            <a:endParaRPr sz="950" b="1" i="0">
              <a:solidFill>
                <a:srgbClr val="EA580C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99632" y="294436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Mass-fire ≥10 URLs → auto FP
Occurrence count ≥10 → auto FP
Nmap port closed → auto FP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5961888" y="3794760"/>
            <a:ext cx="6016752" cy="265176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61888" y="3794760"/>
            <a:ext cx="601675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3813048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Accuracy vs Manual Reviews  (PILLAR 7)</a:t>
            </a:r>
            <a:endParaRPr sz="1000" b="1" i="0">
              <a:solidFill>
                <a:srgbClr val="FFFFFF"/>
              </a:solidFill>
            </a:endParaRP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4160520"/>
            <a:ext cx="5925312" cy="2231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LIVE EVIDENCE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Live Scan Results — Real Vulnerability Intelligence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11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Data sourced from Appname_Testasp_report.xlsx   ·   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4592" y="1024128"/>
            <a:ext cx="11859768" cy="310896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024128"/>
            <a:ext cx="50292" cy="3108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5"/>
            <a:ext cx="1165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Real scan  ·  Appname_Testasp  ·  Target: http://testasp.vulnweb.com/  ·  Auth: HAR — SUCCESS  ·  Date: 2026-04-26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64592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1426464"/>
            <a:ext cx="1901952" cy="594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1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1</a:t>
            </a:r>
            <a:endParaRPr sz="2600" b="1" i="0">
              <a:solidFill>
                <a:srgbClr val="DC262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0311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Critical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157984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7984" y="1426464"/>
            <a:ext cx="1901952" cy="594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03704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</a:rPr>
              <a:t>3</a:t>
            </a:r>
            <a:endParaRPr sz="2600" b="1" i="0">
              <a:solidFill>
                <a:srgbClr val="EA580C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03704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High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4151376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51376" y="1426464"/>
            <a:ext cx="1901952" cy="5943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A8A04"/>
                </a:solidFill>
              </a:rPr>
              <a:t>14</a:t>
            </a:r>
            <a:endParaRPr sz="2600" b="1" i="0">
              <a:solidFill>
                <a:srgbClr val="CA8A0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97096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Medium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144768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426464"/>
            <a:ext cx="1901952" cy="594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20</a:t>
            </a:r>
            <a:endParaRPr sz="2600" b="1" i="0">
              <a:solidFill>
                <a:srgbClr val="16A34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90488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Low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138160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426464"/>
            <a:ext cx="1901952" cy="5943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</a:rPr>
              <a:t>2</a:t>
            </a:r>
            <a:endParaRPr sz="2600" b="1" i="0">
              <a:solidFill>
                <a:srgbClr val="0284C7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83880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Info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131552" y="1426464"/>
            <a:ext cx="1901952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552" y="1426464"/>
            <a:ext cx="1901952" cy="5943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7272" y="1536192"/>
            <a:ext cx="1810512" cy="40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20</a:t>
            </a:r>
            <a:endParaRPr sz="2600" b="1" i="0">
              <a:solidFill>
                <a:srgbClr val="64748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177272" y="1882566"/>
            <a:ext cx="1810512" cy="29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FP Dismissed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64592" y="2331720"/>
            <a:ext cx="7607808" cy="2743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592" y="2331720"/>
            <a:ext cx="50292" cy="274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2350008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84C7"/>
                </a:solidFill>
              </a:rPr>
              <a:t>TOP FINDINGS</a:t>
            </a:r>
            <a:endParaRPr sz="850" b="1" i="0">
              <a:solidFill>
                <a:srgbClr val="0284C7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64592" y="2633472"/>
            <a:ext cx="274320" cy="23774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79" y="2642616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4C7"/>
                </a:solidFill>
              </a:rPr>
              <a:t>SEV</a:t>
            </a:r>
            <a:endParaRPr sz="750" b="1" i="0">
              <a:solidFill>
                <a:srgbClr val="0284C7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57200" y="2633472"/>
            <a:ext cx="493776" cy="23774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264261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4C7"/>
                </a:solidFill>
              </a:rPr>
              <a:t>#</a:t>
            </a:r>
            <a:endParaRPr sz="750" b="1" i="0">
              <a:solidFill>
                <a:srgbClr val="0284C7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9264" y="2633472"/>
            <a:ext cx="4645152" cy="23774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2642616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4C7"/>
                </a:solidFill>
              </a:rPr>
              <a:t>Vulnerability Name</a:t>
            </a:r>
            <a:endParaRPr sz="750" b="1" i="0">
              <a:solidFill>
                <a:srgbClr val="0284C7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650992" y="2633472"/>
            <a:ext cx="1426464" cy="23774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79" y="264261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4C7"/>
                </a:solidFill>
              </a:rPr>
              <a:t>OWASP Category</a:t>
            </a:r>
            <a:endParaRPr sz="750" b="1" i="0">
              <a:solidFill>
                <a:srgbClr val="0284C7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114032" y="2633472"/>
            <a:ext cx="658368" cy="23774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2642616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4C7"/>
                </a:solidFill>
              </a:rPr>
              <a:t>FP Status</a:t>
            </a:r>
            <a:endParaRPr sz="750" b="1" i="0">
              <a:solidFill>
                <a:srgbClr val="0284C7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4592" y="2889504"/>
            <a:ext cx="7607808" cy="3108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2944368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DC2626"/>
                </a:solidFill>
              </a:rPr>
              <a:t>HIGH</a:t>
            </a:r>
            <a:endParaRPr sz="650" b="1" i="0">
              <a:solidFill>
                <a:srgbClr val="DC2626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66344" y="294436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9264" y="2944368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Path Traversal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650992" y="2944368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A03 Injection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14032" y="29443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64592" y="3223260"/>
            <a:ext cx="760780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3278124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A8A04"/>
                </a:solidFill>
              </a:rPr>
              <a:t>MED</a:t>
            </a:r>
            <a:endParaRPr sz="650" b="1" i="0">
              <a:solidFill>
                <a:srgbClr val="CA8A04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66344" y="327812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2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69264" y="3278124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CSP Header Not Set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650992" y="3278124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A05 Sec Misconfiguration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114032" y="32781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64592" y="3557016"/>
            <a:ext cx="7607808" cy="3108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" y="3611880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A8A04"/>
                </a:solidFill>
              </a:rPr>
              <a:t>MED</a:t>
            </a:r>
            <a:endParaRPr sz="650" b="1" i="0">
              <a:solidFill>
                <a:srgbClr val="CA8A04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6344" y="361188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3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69264" y="3611880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Missing Anti-clickjacking Header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650992" y="361188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A01 Broken Access Control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114032" y="36118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</a:rPr>
              <a:t>Likely FP</a:t>
            </a:r>
            <a:endParaRPr sz="700" b="1" i="0">
              <a:solidFill>
                <a:srgbClr val="DC2626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64592" y="3890772"/>
            <a:ext cx="760780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3945635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A8A04"/>
                </a:solidFill>
              </a:rPr>
              <a:t>MED</a:t>
            </a:r>
            <a:endParaRPr sz="650" b="1" i="0">
              <a:solidFill>
                <a:srgbClr val="CA8A04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6344" y="3945635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4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69264" y="3945635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CSP Header Not Set (Non-Auth)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650992" y="3945635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A05 Sec Misconfiguration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4032" y="394563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64592" y="4224528"/>
            <a:ext cx="7607808" cy="3108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4279392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A8A04"/>
                </a:solidFill>
              </a:rPr>
              <a:t>MED</a:t>
            </a:r>
            <a:endParaRPr sz="650" b="1" i="0">
              <a:solidFill>
                <a:srgbClr val="CA8A04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66344" y="427939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69264" y="4279392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Absence of Anti-CSRF Tokens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650992" y="427939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A01 Broken Access Control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114032" y="42793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64592" y="4558284"/>
            <a:ext cx="760780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" y="4613148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A8A04"/>
                </a:solidFill>
              </a:rPr>
              <a:t>MED</a:t>
            </a:r>
            <a:endParaRPr sz="650" b="1" i="0">
              <a:solidFill>
                <a:srgbClr val="CA8A04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66344" y="461314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69264" y="4613148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HTTP Only Site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650992" y="4613148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N/A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14032" y="46131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64592" y="4892040"/>
            <a:ext cx="7607808" cy="3108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2880" y="4946903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6A34A"/>
                </a:solidFill>
              </a:rPr>
              <a:t>LOW</a:t>
            </a:r>
            <a:endParaRPr sz="650" b="1" i="0">
              <a:solidFill>
                <a:srgbClr val="16A34A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66344" y="4946903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69264" y="4946903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Cookie without SameSite Attribute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650992" y="4946903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A07 Auth Failures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114032" y="494690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64592" y="5225796"/>
            <a:ext cx="760780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5280659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6A34A"/>
                </a:solidFill>
              </a:rPr>
              <a:t>LOW</a:t>
            </a:r>
            <a:endParaRPr sz="650" b="1" i="0">
              <a:solidFill>
                <a:srgbClr val="16A34A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66344" y="5280659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8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69264" y="5280659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Server Leaks Version (Server header)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50992" y="5280659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A07 Auth Failures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114032" y="528065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64592" y="5559552"/>
            <a:ext cx="7607808" cy="3108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82880" y="5614416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6A34A"/>
                </a:solidFill>
              </a:rPr>
              <a:t>LOW</a:t>
            </a:r>
            <a:endParaRPr sz="650" b="1" i="0">
              <a:solidFill>
                <a:srgbClr val="16A34A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66344" y="5614416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9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69264" y="5614416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X-Content-Type-Options Header Missing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650992" y="5614416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A02 Crypto Failures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114032" y="56144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</a:rPr>
              <a:t>True Positive</a:t>
            </a:r>
            <a:endParaRPr sz="700" b="1" i="0">
              <a:solidFill>
                <a:srgbClr val="16A34A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64592" y="5893308"/>
            <a:ext cx="760780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82880" y="5948172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6A34A"/>
                </a:solidFill>
              </a:rPr>
              <a:t>LOW</a:t>
            </a:r>
            <a:endParaRPr sz="650" b="1" i="0">
              <a:solidFill>
                <a:srgbClr val="16A34A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66344" y="594817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10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69264" y="5948172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Cookie No HttpOnly Flag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650992" y="59481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</a:rPr>
              <a:t>A07 Auth Failures</a:t>
            </a:r>
            <a:endParaRPr sz="700" b="0" i="0">
              <a:solidFill>
                <a:srgbClr val="1E293B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114032" y="59481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—</a:t>
            </a:r>
            <a:endParaRPr sz="700" b="0" i="0">
              <a:solidFill>
                <a:srgbClr val="64748B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7936992" y="2331720"/>
            <a:ext cx="4087368" cy="2743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36992" y="2331720"/>
            <a:ext cx="502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28431" y="2350008"/>
            <a:ext cx="3904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</a:rPr>
              <a:t>OWASP Mapping</a:t>
            </a:r>
            <a:endParaRPr sz="850" b="1" i="0">
              <a:solidFill>
                <a:srgbClr val="DC2626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936992" y="2651760"/>
            <a:ext cx="4087368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991856" y="2715768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A01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8412480" y="2715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Broken Access Control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0725912" y="2743200"/>
            <a:ext cx="585216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347704" y="272491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3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936992" y="3054096"/>
            <a:ext cx="4087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991856" y="3118103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A02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412480" y="311810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Cryptographic Failures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0725912" y="3145536"/>
            <a:ext cx="195072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957560" y="312724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1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936992" y="3456432"/>
            <a:ext cx="4087368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991856" y="3520439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A03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412480" y="3520439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Injection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10725912" y="3547872"/>
            <a:ext cx="195072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957560" y="352958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1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936992" y="3858768"/>
            <a:ext cx="4087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991856" y="3922776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A05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412480" y="39227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Security Misconfiguration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10725912" y="3950207"/>
            <a:ext cx="1170432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932919" y="393192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6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7936992" y="4261104"/>
            <a:ext cx="4087368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991856" y="4325112"/>
            <a:ext cx="384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A07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412480" y="43251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Auth &amp; Session Failures</a:t>
            </a:r>
            <a:endParaRPr sz="750" b="0" i="0">
              <a:solidFill>
                <a:srgbClr val="1E293B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0725912" y="4352544"/>
            <a:ext cx="1170432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932919" y="433425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6</a:t>
            </a:r>
            <a:endParaRPr sz="750" b="1" i="0">
              <a:solidFill>
                <a:srgbClr val="DC2626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936992" y="4700016"/>
            <a:ext cx="4087368" cy="2743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936992" y="4700016"/>
            <a:ext cx="5029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28431" y="4754879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34A"/>
                </a:solidFill>
              </a:rPr>
              <a:t>AI False Positive Analysis</a:t>
            </a:r>
            <a:endParaRPr sz="850" b="1" i="0">
              <a:solidFill>
                <a:srgbClr val="16A34A"/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936992" y="5029200"/>
            <a:ext cx="4087368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28431" y="508406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Total Findings Analysed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1183112" y="508406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E293B"/>
                </a:solidFill>
              </a:rPr>
              <a:t>34</a:t>
            </a:r>
            <a:endParaRPr sz="950" b="1" i="0">
              <a:solidFill>
                <a:srgbClr val="1E293B"/>
              </a:solidFill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7936992" y="5394960"/>
            <a:ext cx="4087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028431" y="54498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True Positives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1183112" y="544982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C2626"/>
                </a:solidFill>
              </a:rPr>
              <a:t>9</a:t>
            </a:r>
            <a:endParaRPr sz="950" b="1" i="0">
              <a:solidFill>
                <a:srgbClr val="DC2626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936992" y="5760720"/>
            <a:ext cx="4087368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028431" y="5815583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Likely False Positives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1183112" y="5815583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20</a:t>
            </a:r>
            <a:endParaRPr sz="950" b="1" i="0">
              <a:solidFill>
                <a:srgbClr val="16A34A"/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7936992" y="6126480"/>
            <a:ext cx="4087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28431" y="618134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Needs Manual Review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1183112" y="618134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A580C"/>
                </a:solidFill>
              </a:rPr>
              <a:t>5</a:t>
            </a:r>
            <a:endParaRPr sz="950" b="1" i="0">
              <a:solidFill>
                <a:srgbClr val="EA580C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7936992" y="6492240"/>
            <a:ext cx="4087368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028431" y="6547103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Noise Reduction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1183112" y="6547103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284C7"/>
                </a:solidFill>
              </a:rPr>
              <a:t>58.8%</a:t>
            </a:r>
            <a:endParaRPr sz="950" b="1" i="0">
              <a:solidFill>
                <a:srgbClr val="0284C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TECHNICAL ARCHITECTURE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 &amp; Setup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12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All components run locally — no cloud dependency   ·   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" y="1024128"/>
            <a:ext cx="8229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024128"/>
            <a:ext cx="54864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TIER 1 — ORCHESTRATION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4380" y="131673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" y="1316736"/>
            <a:ext cx="1417320" cy="2011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" y="132588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Orchestrator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0956" y="154533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main.py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948940" y="131673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48940" y="1316736"/>
            <a:ext cx="1417320" cy="2011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6372" y="132588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Profiles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5516" y="154533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profiles/
myapp.json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5143500" y="131673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43500" y="1316736"/>
            <a:ext cx="1417320" cy="2011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0932" y="132588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Config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80076" y="154533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config.txt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606540" y="131673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6540" y="1316736"/>
            <a:ext cx="1417320" cy="2011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3972" y="132588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Auth Handler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3116" y="154533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Strategy
selection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64592" y="2029968"/>
            <a:ext cx="8229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029968"/>
            <a:ext cx="54864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0482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91B2"/>
                </a:solidFill>
              </a:rPr>
              <a:t>TIER 2 — AUTH &amp; SESSION</a:t>
            </a:r>
            <a:endParaRPr sz="800" b="1" i="0">
              <a:solidFill>
                <a:srgbClr val="0891B2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54380" y="232257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4380" y="2322576"/>
            <a:ext cx="14173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" y="233172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HAR Replay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0956" y="255117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Browser session
replay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948940" y="232257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48940" y="2322576"/>
            <a:ext cx="14173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6372" y="233172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Form Auth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85516" y="255117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POST login
+ verify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5143500" y="232257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43500" y="2322576"/>
            <a:ext cx="14173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0932" y="233172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TOTP / MFA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180076" y="255117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OTP code
generation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6540" y="232257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06540" y="2322576"/>
            <a:ext cx="14173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33972" y="233172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Watchdog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43116" y="255117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Re-auth on
session expiry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64592" y="3035808"/>
            <a:ext cx="8229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" y="3035808"/>
            <a:ext cx="54864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0540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TIER 3 — SCAN ENGINES</a:t>
            </a:r>
            <a:endParaRPr sz="800" b="1" i="0">
              <a:solidFill>
                <a:srgbClr val="DC2626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937259" y="332841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7259" y="3328416"/>
            <a:ext cx="141732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2" y="333756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ZAP Docker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73836" y="355701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ghcr.io/zaproxy
Port 8080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2948940" y="332841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48940" y="3328416"/>
            <a:ext cx="141732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6372" y="333756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Spider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985516" y="355701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URL crawl
asset filter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960620" y="332841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60620" y="3328416"/>
            <a:ext cx="141732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88052" y="333756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Active Scan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97196" y="355701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Policy-based
attack rules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6606540" y="3328416"/>
            <a:ext cx="1417320" cy="57607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06540" y="3328416"/>
            <a:ext cx="141732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33972" y="333756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Nmap Docker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643116" y="3557016"/>
            <a:ext cx="1344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Network port
&amp; svc scan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64592" y="4041648"/>
            <a:ext cx="8229600" cy="10789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4592" y="4041648"/>
            <a:ext cx="54864" cy="1078992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05993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634D4"/>
                </a:solidFill>
              </a:rPr>
              <a:t>TIER 4 — AI PIPELINE</a:t>
            </a:r>
            <a:endParaRPr sz="800" b="1" i="0">
              <a:solidFill>
                <a:srgbClr val="5634D4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754380" y="4334256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4380" y="4334256"/>
            <a:ext cx="1417320" cy="201168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812" y="434340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Ollama LLM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90956" y="4562856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qwen2.5 / Claude
/ GPT models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2948940" y="4334256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948940" y="4334256"/>
            <a:ext cx="1417320" cy="201168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76372" y="434340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AI Enrichment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985516" y="4562856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Batch + Cache
SHA-256 keyed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5143500" y="4334256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43500" y="4334256"/>
            <a:ext cx="1417320" cy="201168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70932" y="434340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FP Analysis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80076" y="4562856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Hybrid AI+Rule
58.8% noise cut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6606540" y="4334256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606540" y="4334256"/>
            <a:ext cx="1417320" cy="201168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33972" y="4343400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Validation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43116" y="4562856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Accuracy check
92%+ agreement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64592" y="5175504"/>
            <a:ext cx="8229600" cy="10789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4592" y="5175504"/>
            <a:ext cx="54864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193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TIER 5 — REPORTING</a:t>
            </a:r>
            <a:endParaRPr sz="800" b="1" i="0">
              <a:solidFill>
                <a:srgbClr val="16A34A"/>
              </a:solidFill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0060" y="5468112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80060" y="5468112"/>
            <a:ext cx="14173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7492" y="5477256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Excel 12-tab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16636" y="5696712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Dashboard·Findings
OWASP·FP·Trend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>
            <a:off x="2491740" y="5468112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491740" y="5468112"/>
            <a:ext cx="14173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19172" y="5477256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Word .docx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528316" y="5696712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Narrative report
13 sections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4137659" y="5468112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137659" y="5468112"/>
            <a:ext cx="14173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5091" y="5477256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HTML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174235" y="5696712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Chart.js dash
Severity filter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5600700" y="5468112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00700" y="5468112"/>
            <a:ext cx="14173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28132" y="5477256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SARIF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637276" y="5696712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CI/CD native
GitHub/Azure</a:t>
            </a:r>
            <a:endParaRPr sz="680" b="0" i="0">
              <a:solidFill>
                <a:srgbClr val="1E293B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972300" y="5468112"/>
            <a:ext cx="1417320" cy="6949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72300" y="5468112"/>
            <a:ext cx="14173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99732" y="5477256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JSON/CSV</a:t>
            </a:r>
            <a:endParaRPr sz="700" b="1" i="0">
              <a:solidFill>
                <a:srgbClr val="FFFFFF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7008876" y="5696712"/>
            <a:ext cx="13441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1E293B"/>
                </a:solidFill>
              </a:rPr>
              <a:t>SIEM ingest
Splunk·QRadar</a:t>
            </a:r>
            <a:endParaRPr sz="680" b="0" i="0">
              <a:solidFill>
                <a:srgbClr val="1E293B"/>
              </a:solidFill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4114800" y="1975104"/>
            <a:ext cx="0" cy="64008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114800" y="2980944"/>
            <a:ext cx="0" cy="64008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114800" y="3986784"/>
            <a:ext cx="0" cy="64007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114800" y="5111496"/>
            <a:ext cx="0" cy="73152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8577072" y="1024128"/>
            <a:ext cx="3401568" cy="5413248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577072" y="1024128"/>
            <a:ext cx="3401568" cy="310896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68512" y="1078992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SETUP REQUIREMENTS</a:t>
            </a:r>
            <a:endParaRPr sz="900" b="1" i="0">
              <a:solidFill>
                <a:srgbClr val="0284C7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8631936" y="1389888"/>
            <a:ext cx="329184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1936" y="1389888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723376" y="1426464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Python 3.12+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723376" y="1645920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python -m venv .venv
pip install -r requirements.txt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8631936" y="2066543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31936" y="2066543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723376" y="2103120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Docker Desktop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723376" y="2322576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ZAP + Nmap run as Docker containers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8631936" y="2743200"/>
            <a:ext cx="329184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31936" y="2743200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23376" y="2779776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Ollama + Model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723376" y="2999232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ollama serve  &amp;  ollama pull qwen2.5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8631936" y="3419856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631936" y="3419856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723376" y="3456432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ZAP API Key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723376" y="3675887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Set in config.txt — default port 8080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631936" y="4096512"/>
            <a:ext cx="329184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631936" y="4096512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723376" y="4133088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Profile JSON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723376" y="435254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cp profiles/example.json profiles/myapp.json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8631936" y="4773168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631936" y="4773168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723376" y="4809744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HAR Session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723376" y="5029200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Record via browser DevTools, save to auth_sessions/</a:t>
            </a:r>
            <a:endParaRPr sz="750" b="0" i="1">
              <a:solidFill>
                <a:srgbClr val="1E293B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8631936" y="5449823"/>
            <a:ext cx="329184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631936" y="5449823"/>
            <a:ext cx="4572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23376" y="5486399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Web UI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723376" y="5705855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bash web/start.sh --port 8090</a:t>
            </a:r>
            <a:endParaRPr sz="750" b="0" i="1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DEPLOYMENT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Deployment Architecture &amp; Operational Model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13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bash web/start.sh --port 8090   →   live dashboard at http://localhost:8090   ·   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78992"/>
            <a:ext cx="11786616" cy="38404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78992"/>
            <a:ext cx="54864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13385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84C7"/>
                </a:solidFill>
              </a:rPr>
              <a:t>One command to start. Cloud-accessible in 60 seconds via Cloudflare Tunnel.</a:t>
            </a:r>
            <a:endParaRPr sz="1150" b="1" i="0">
              <a:solidFill>
                <a:srgbClr val="0284C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" y="1572768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DEPLOYMENT STACK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01168" y="1883664"/>
            <a:ext cx="5833872" cy="950976"/>
          </a:xfrm>
          <a:prstGeom prst="ellipse">
            <a:avLst/>
          </a:prstGeom>
          <a:solidFill>
            <a:srgbClr val="F1F5F9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1883664"/>
            <a:ext cx="5833872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1920240"/>
            <a:ext cx="5632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start.sh — One-Command Startup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0896" y="2212848"/>
            <a:ext cx="56327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source zapenv/bin/activate  →  pip install  →  uvicorn on port 8090</a:t>
            </a:r>
            <a:endParaRPr sz="850" b="0" i="0">
              <a:solidFill>
                <a:srgbClr val="1E293B"/>
              </a:solidFill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118104" y="2834640"/>
            <a:ext cx="0" cy="128016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01168" y="2962656"/>
            <a:ext cx="5833872" cy="950976"/>
          </a:xfrm>
          <a:prstGeom prst="ellipse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" y="2962656"/>
            <a:ext cx="5833872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999232"/>
            <a:ext cx="5632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Docker Compose — Container Deployment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0896" y="3291840"/>
            <a:ext cx="56327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Image: dast-ai-web · Docker socket sharing · Volumes: reports/ · profiles/</a:t>
            </a:r>
            <a:endParaRPr sz="850" b="0" i="0">
              <a:solidFill>
                <a:srgbClr val="1E293B"/>
              </a:solidFill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118104" y="3913632"/>
            <a:ext cx="0" cy="128016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1168" y="4041648"/>
            <a:ext cx="5833872" cy="950976"/>
          </a:xfrm>
          <a:prstGeom prst="ellipse">
            <a:avLst/>
          </a:prstGeom>
          <a:solidFill>
            <a:srgbClr val="F1F5F9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" y="4041648"/>
            <a:ext cx="5833872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4078224"/>
            <a:ext cx="5632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nginx — Reverse Proxy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0896" y="4370832"/>
            <a:ext cx="56327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SPA fallback routing · /api/ proxied · WebSocket upgrade · gzip</a:t>
            </a:r>
            <a:endParaRPr sz="850" b="0" i="0">
              <a:solidFill>
                <a:srgbClr val="1E293B"/>
              </a:solidFill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18104" y="4992624"/>
            <a:ext cx="0" cy="128016"/>
          </a:xfrm>
          <a:prstGeom prst="line">
            <a:avLst/>
          </a:prstGeom>
          <a:ln w="17780">
            <a:solidFill>
              <a:srgbClr val="0284C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01168" y="5120640"/>
            <a:ext cx="5833872" cy="950976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5120640"/>
            <a:ext cx="5833872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5157216"/>
            <a:ext cx="5632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Cloudflare Tunnel — External Access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0896" y="5449824"/>
            <a:ext cx="56327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Zero-config TLS certificate · Public HTTPS URL · No port-forwarding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91072" y="1572768"/>
            <a:ext cx="5687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ACCESS CONTROL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291072" y="1883664"/>
            <a:ext cx="1828800" cy="14264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91072" y="1883664"/>
            <a:ext cx="182880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9202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MANAGER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82512" y="2267712"/>
            <a:ext cx="1645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Full admin · User management · All scan &amp; config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229600" y="1883664"/>
            <a:ext cx="1828800" cy="14264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1883664"/>
            <a:ext cx="1828800" cy="3108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9202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SCANNER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21040" y="2267712"/>
            <a:ext cx="1645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Launch · cancel · rerun · View findings &amp; reports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10168128" y="1883664"/>
            <a:ext cx="1828800" cy="14264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68128" y="1883664"/>
            <a:ext cx="1828800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9568" y="19202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VIEWER</a:t>
            </a:r>
            <a:endParaRPr sz="950" b="1" i="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59568" y="2267712"/>
            <a:ext cx="1645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Read-only · View scans, findings · Download reports</a:t>
            </a:r>
            <a:endParaRPr sz="850" b="0" i="0">
              <a:solidFill>
                <a:srgbClr val="1E293B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91072" y="3419856"/>
            <a:ext cx="5687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OPERATIONAL HEALTH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91072" y="3749039"/>
            <a:ext cx="5687568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3749039"/>
            <a:ext cx="50292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803903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84C7"/>
                </a:solidFill>
              </a:rPr>
              <a:t>Health Check</a:t>
            </a:r>
            <a:endParaRPr sz="950" b="1" i="0">
              <a:solidFill>
                <a:srgbClr val="0284C7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00800" y="40416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/api/system/health · ZAP · Nmap · Ollama status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91072" y="4425696"/>
            <a:ext cx="5687568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91072" y="4425696"/>
            <a:ext cx="5029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480559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</a:rPr>
              <a:t>Persistent State</a:t>
            </a:r>
            <a:endParaRPr sz="950" b="1" i="0">
              <a:solidFill>
                <a:srgbClr val="2563EB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00800" y="4718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SQLite dast_web.db volume-mounted · reports/ bind-mounted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91072" y="5102352"/>
            <a:ext cx="5687568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91072" y="5102352"/>
            <a:ext cx="50292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15721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Log Access</a:t>
            </a:r>
            <a:endParaRPr sz="950" b="1" i="0">
              <a:solidFill>
                <a:srgbClr val="EA580C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0800" y="5394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/ws/scans/{id}/logs WebSocket · rotating file logs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91072" y="5779007"/>
            <a:ext cx="5687568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91072" y="5779007"/>
            <a:ext cx="50292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833871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Session Auth</a:t>
            </a:r>
            <a:endParaRPr sz="950" b="1" i="0">
              <a:solidFill>
                <a:srgbClr val="16A34A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0" y="60716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X-Username + localStorage · Login modal on 401</a:t>
            </a:r>
            <a:endParaRPr sz="8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TEAM OPERATIONS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Team Access, Scheduling &amp; Report Delivery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08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" y="107899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ROLE-BASED ACCESS CONTROL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01168" y="1408176"/>
            <a:ext cx="5074920" cy="1444752"/>
          </a:xfrm>
          <a:prstGeom prst="ellipse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1408176"/>
            <a:ext cx="507492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4538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MANAGER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9184" y="1792224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Full admin rights
User management
All scan &amp; config actions
Report access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01168" y="2980944"/>
            <a:ext cx="5074920" cy="1444752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2980944"/>
            <a:ext cx="5074920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3026663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SCANNER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9184" y="3364991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Launch, cancel, rerun
View findings &amp; reports
Manage scan profiles
Auth record mgmt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1168" y="4553712"/>
            <a:ext cx="5074920" cy="1444752"/>
          </a:xfrm>
          <a:prstGeom prst="ellipse">
            <a:avLst/>
          </a:prstGeom>
          <a:solidFill>
            <a:srgbClr val="F1F5F9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" y="4553712"/>
            <a:ext cx="5074920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459943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VIEWER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4" y="49377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Read-only access
View scans &amp; findings
Download reports
No launch or config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1078992"/>
            <a:ext cx="6501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SCHEDULED AUTOMATION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486400" y="1408176"/>
            <a:ext cx="2084831" cy="9692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1408176"/>
            <a:ext cx="2084831" cy="274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143560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Daily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7840" y="1719072"/>
            <a:ext cx="19019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Overnight scan — results ready each morning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699248" y="1408176"/>
            <a:ext cx="2084831" cy="9692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99248" y="1408176"/>
            <a:ext cx="2084831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143560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Weekly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90688" y="1719072"/>
            <a:ext cx="19019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End-of-sprint scan — trend delta vs prior week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9912096" y="1408176"/>
            <a:ext cx="2084831" cy="969264"/>
          </a:xfrm>
          <a:prstGeom prst="ellipse">
            <a:avLst/>
          </a:prstGeom>
          <a:solidFill>
            <a:srgbClr val="F1F5F9"/>
          </a:solidFill>
          <a:ln w="1524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2096" y="1408176"/>
            <a:ext cx="2084831" cy="27432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03536" y="143560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Monthly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03536" y="1719072"/>
            <a:ext cx="19019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Board report scan — full 7-pillar AI pipeline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2505456"/>
            <a:ext cx="6501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REPORT FORMATS — ONE-CLICK DOWNLOAD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86400" y="283464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2834640"/>
            <a:ext cx="3127248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8" y="294436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XLSX</a:t>
            </a:r>
            <a:endParaRPr sz="1200" b="1" i="0">
              <a:solidFill>
                <a:srgbClr val="0284C7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96128" y="325526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12-tab Excel
Dashboard · Findings · OWASP · Trend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8860536" y="283464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0536" y="2834640"/>
            <a:ext cx="312724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0263" y="294436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DOCX</a:t>
            </a:r>
            <a:endParaRPr sz="1200" b="1" i="0">
              <a:solidFill>
                <a:srgbClr val="2563EB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70263" y="325526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13-section Word
Narrative report for stakeholders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5486400" y="411480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0" y="4114800"/>
            <a:ext cx="3127248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96128" y="422452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HTML</a:t>
            </a:r>
            <a:endParaRPr sz="1200" b="1" i="0">
              <a:solidFill>
                <a:srgbClr val="16A34A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596128" y="453542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Chart.js dashboard
Interactive severity filter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8860536" y="411480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60536" y="4114800"/>
            <a:ext cx="3127248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0263" y="422452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SARIF</a:t>
            </a:r>
            <a:endParaRPr sz="1200" b="1" i="0">
              <a:solidFill>
                <a:srgbClr val="EA580C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970263" y="453542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CI/CD native
GitHub · Azure DevOps · SIEM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5486400" y="539496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5394960"/>
            <a:ext cx="3127248" cy="54864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96128" y="550468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34D4"/>
                </a:solidFill>
              </a:rPr>
              <a:t>JSON</a:t>
            </a:r>
            <a:endParaRPr sz="1200" b="1" i="0">
              <a:solidFill>
                <a:srgbClr val="5634D4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96128" y="581558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Full structured data
Splunk · QRadar ingest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8860536" y="5394960"/>
            <a:ext cx="3127248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60536" y="5394960"/>
            <a:ext cx="3127248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70263" y="550468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</a:rPr>
              <a:t>CSV</a:t>
            </a:r>
            <a:endParaRPr sz="1200" b="1" i="0">
              <a:solidFill>
                <a:srgbClr val="0891B2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70263" y="5815584"/>
            <a:ext cx="2907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Flat export
Spreadsheet &amp; BI tools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5486400" y="6675119"/>
            <a:ext cx="6501384" cy="115214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0" y="6675119"/>
            <a:ext cx="6501384" cy="54864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96128" y="6784847"/>
            <a:ext cx="6281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34D4"/>
                </a:solidFill>
              </a:rPr>
              <a:t>PPTX</a:t>
            </a:r>
            <a:endParaRPr sz="1200" b="1" i="0">
              <a:solidFill>
                <a:srgbClr val="5634D4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96128" y="7095743"/>
            <a:ext cx="6281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Auto-generated
This very presentation</a:t>
            </a:r>
            <a:endParaRPr sz="8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NEXT STEPS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Ready to Run — Your First Scan in Three Steps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15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78992"/>
            <a:ext cx="11786616" cy="457200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78992"/>
            <a:ext cx="54864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1612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84C7"/>
                </a:solidFill>
              </a:rPr>
              <a:t>The web UI is live at http://localhost:8090 — no CLI needed to get started.</a:t>
            </a:r>
            <a:endParaRPr sz="1150" b="1" i="0">
              <a:solidFill>
                <a:srgbClr val="0284C7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56032" y="1682496"/>
            <a:ext cx="3749039" cy="327355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1682496"/>
            <a:ext cx="3749039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810512"/>
            <a:ext cx="37490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</a:rPr>
              <a:t>01</a:t>
            </a:r>
            <a:endParaRPr sz="3800" b="1" i="0">
              <a:solidFill>
                <a:srgbClr val="0284C7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0624" y="2468880"/>
            <a:ext cx="3419856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560320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E35"/>
                </a:solidFill>
              </a:rPr>
              <a:t>Start the Web UI</a:t>
            </a:r>
            <a:endParaRPr sz="1200" b="1" i="0">
              <a:solidFill>
                <a:srgbClr val="0F1E3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2336" y="2944368"/>
            <a:ext cx="345643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bash web/start.sh --port 8090
Open http://localhost:8090 in your browser.
Sign in with your role (Manager / Scanner / Viewer).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69664" y="1682496"/>
            <a:ext cx="3749039" cy="327355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9664" y="1682496"/>
            <a:ext cx="374903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9664" y="1810512"/>
            <a:ext cx="37490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563EB"/>
                </a:solidFill>
              </a:rPr>
              <a:t>02</a:t>
            </a:r>
            <a:endParaRPr sz="3800" b="1" i="0">
              <a:solidFill>
                <a:srgbClr val="2563E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34256" y="2468880"/>
            <a:ext cx="341985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2560320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E35"/>
                </a:solidFill>
              </a:rPr>
              <a:t>Create a Target Profile</a:t>
            </a:r>
            <a:endParaRPr sz="1200" b="1" i="0">
              <a:solidFill>
                <a:srgbClr val="0F1E3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15968" y="2944368"/>
            <a:ext cx="345643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Go to  Option Profiles  in the sidebar.
Set the target URL, authentication strategy
(HAR / Form / TOTP / API Key), and scan scope.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8083296" y="1682496"/>
            <a:ext cx="3749039" cy="327355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1682496"/>
            <a:ext cx="3749039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1810512"/>
            <a:ext cx="37490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4A"/>
                </a:solidFill>
              </a:rPr>
              <a:t>03</a:t>
            </a:r>
            <a:endParaRPr sz="3800" b="1" i="0">
              <a:solidFill>
                <a:srgbClr val="16A34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47888" y="2468880"/>
            <a:ext cx="3419856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E35"/>
                </a:solidFill>
              </a:rPr>
              <a:t>Click Start Scan</a:t>
            </a:r>
            <a:endParaRPr sz="1200" b="1" i="0">
              <a:solidFill>
                <a:srgbClr val="0F1E35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2944368"/>
            <a:ext cx="345643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Select your profile and click  + New Scan.
Watch the 7-pillar pipeline run live in the
browser — AI enrichment, FP analysis, reports.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8" y="5102352"/>
            <a:ext cx="11786616" cy="1353312"/>
          </a:xfrm>
          <a:prstGeom prst="ellipse">
            <a:avLst/>
          </a:prstGeom>
          <a:solidFill>
            <a:srgbClr val="F1F5F9"/>
          </a:solidFill>
          <a:ln w="19050">
            <a:solidFill>
              <a:srgbClr val="563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" y="5102352"/>
            <a:ext cx="11786616" cy="329184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102352"/>
            <a:ext cx="54864" cy="1353312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12978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RECOMMENDED ESCALATION PATH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7472" y="5486400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634D4"/>
                </a:solidFill>
              </a:rPr>
              <a:t>01</a:t>
            </a:r>
            <a:endParaRPr sz="2000" b="1" i="0">
              <a:solidFill>
                <a:srgbClr val="5634D4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4672" y="5504688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Pilot 3 Apps</a:t>
            </a:r>
            <a:endParaRPr sz="950" b="1" i="0">
              <a:solidFill>
                <a:srgbClr val="1E293B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4672" y="5742432"/>
            <a:ext cx="2359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Deploy against 3 internal apps over 2 weeks; baseline metrics captured.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91840" y="5486400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634D4"/>
                </a:solidFill>
              </a:rPr>
              <a:t>02</a:t>
            </a:r>
            <a:endParaRPr sz="2000" b="1" i="0">
              <a:solidFill>
                <a:srgbClr val="5634D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49039" y="5504688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Jira Integration</a:t>
            </a:r>
            <a:endParaRPr sz="950" b="1" i="0">
              <a:solidFill>
                <a:srgbClr val="1E293B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49039" y="5742432"/>
            <a:ext cx="2359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Auto-ticket High/Critical findings into existing engineering workflow.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36208" y="5486400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634D4"/>
                </a:solidFill>
              </a:rPr>
              <a:t>03</a:t>
            </a:r>
            <a:endParaRPr sz="2000" b="1" i="0">
              <a:solidFill>
                <a:srgbClr val="5634D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93408" y="5504688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LLM Fine-tuning</a:t>
            </a:r>
            <a:endParaRPr sz="950" b="1" i="0">
              <a:solidFill>
                <a:srgbClr val="1E293B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93408" y="5742432"/>
            <a:ext cx="2359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Train on historical scan data to push severity agreement above 95%.</a:t>
            </a:r>
            <a:endParaRPr sz="800" b="0" i="0">
              <a:solidFill>
                <a:srgbClr val="1E293B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80576" y="5486400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634D4"/>
                </a:solidFill>
              </a:rPr>
              <a:t>04</a:t>
            </a:r>
            <a:endParaRPr sz="2000" b="1" i="0">
              <a:solidFill>
                <a:srgbClr val="5634D4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37776" y="5504688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Policy A/B Report</a:t>
            </a:r>
            <a:endParaRPr sz="950" b="1" i="0">
              <a:solidFill>
                <a:srgbClr val="1E293B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37776" y="5742432"/>
            <a:ext cx="2359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Run policy optimisation; present A/B comparison to security leadership.</a:t>
            </a:r>
            <a:endParaRPr sz="8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WEB PLATFORM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vs CLI — Why Browser-First Wins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05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168" y="1078992"/>
            <a:ext cx="11786616" cy="47548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078992"/>
            <a:ext cx="54864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3385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The same 7-pillar AI engine — without needing to touch a terminal.</a:t>
            </a:r>
            <a:endParaRPr sz="1200" b="1" i="0">
              <a:solidFill>
                <a:srgbClr val="0284C7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1168" y="1664208"/>
            <a:ext cx="329184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171907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CAPABILITY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93008" y="1664208"/>
            <a:ext cx="4334256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1719072"/>
            <a:ext cx="4151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WEB UI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27264" y="1664208"/>
            <a:ext cx="416052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1719072"/>
            <a:ext cx="3977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CLI ONLY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1168" y="1993392"/>
            <a:ext cx="11786616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" y="19933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0848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Launch a scan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2084832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Click  Start Scan  in the browser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18704" y="20848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python main.py --profile ...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1168" y="2450592"/>
            <a:ext cx="1178661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" y="24505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25420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Team collaboration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66160" y="2542032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RBAC: Manager · Scanner · Viewer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18704" y="25420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Single terminal user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01168" y="2907792"/>
            <a:ext cx="11786616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9077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999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Watch live progress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66160" y="2999232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WebSocket log stream in browser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18704" y="29992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Watch terminal scroll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1168" y="3364992"/>
            <a:ext cx="1178661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3649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3456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Schedule recurring scans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66160" y="3456432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Calendar UI — daily / weekly / monthly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918704" y="34564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Manual cron job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1168" y="3822191"/>
            <a:ext cx="11786616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1168" y="3822191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39136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Download reports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66160" y="3913631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One-click — XLSX, DOCX, HTML, SARIF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18704" y="39136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Navigate filesystem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01168" y="4279392"/>
            <a:ext cx="1178661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168" y="42793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43708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Switch AI model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66160" y="4370831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Settings page — Claude / GPT / Ollama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18704" y="43708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Edit config.txt, restart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01168" y="4736592"/>
            <a:ext cx="11786616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1168" y="47365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" y="48280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Manage auth profiles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566160" y="4828031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Form UI — HAR, OAuth, TOTP, API Key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18704" y="48280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Edit JSON files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1168" y="5193792"/>
            <a:ext cx="1178661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1168" y="51937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" y="52852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View finding trends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66160" y="5285231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OWASP heatmap, regression chart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18704" y="52852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Read raw JSON output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01168" y="5650992"/>
            <a:ext cx="11786616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1168" y="5650992"/>
            <a:ext cx="36576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57424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Retest a single finding</a:t>
            </a:r>
            <a:endParaRPr sz="850" b="1" i="0">
              <a:solidFill>
                <a:srgbClr val="1E293B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66160" y="5742431"/>
            <a:ext cx="4197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</a:rPr>
              <a:t>  Smart Retest button per finding</a:t>
            </a:r>
            <a:endParaRPr sz="850" b="0" i="0">
              <a:solidFill>
                <a:srgbClr val="0284C7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18704" y="57424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Re-run full pipeline</a:t>
            </a:r>
            <a:endParaRPr sz="800" b="0" i="1">
              <a:solidFill>
                <a:srgbClr val="64748B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474720" y="1664208"/>
            <a:ext cx="22860" cy="444398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08976" y="1664208"/>
            <a:ext cx="22860" cy="444398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WEB PLATFORM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Web Dashboard — Scan-to-Report in Your Browser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04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http://localhost:8090  ·  FastAPI + React 18  ·  SQLite persistence   ·   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pic>
        <p:nvPicPr>
          <p:cNvPr id="12" name="Picture 11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78992"/>
            <a:ext cx="7132320" cy="537667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571231" y="1078992"/>
            <a:ext cx="4425696" cy="5376672"/>
          </a:xfrm>
          <a:prstGeom prst="ellipse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71231" y="1078992"/>
            <a:ext cx="4425696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1115568"/>
            <a:ext cx="4187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WHAT YOU SEE IN ONE SCREEN</a:t>
            </a:r>
            <a:endParaRPr sz="850" b="1" i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44383" y="1554480"/>
            <a:ext cx="4279392" cy="69494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44383" y="1554480"/>
            <a:ext cx="54864" cy="69494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645920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Launch or schedule any scan
from one browser screen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44383" y="2322576"/>
            <a:ext cx="42793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44383" y="2322576"/>
            <a:ext cx="54864" cy="6949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414016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7-Pillar Pipeline Health —
per-pillar status at a glance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44383" y="3090672"/>
            <a:ext cx="4279392" cy="69494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44383" y="3090672"/>
            <a:ext cx="54864" cy="6949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3182112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Severity KPI tiles — Critical,
High, Medium, Low, FP Rate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44383" y="3858768"/>
            <a:ext cx="42793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44383" y="3858768"/>
            <a:ext cx="54864" cy="694944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950207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Per-app scan coverage with
compliance status indicator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44383" y="4626864"/>
            <a:ext cx="4279392" cy="69494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44383" y="4626864"/>
            <a:ext cx="54864" cy="69494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8" y="4718303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One-click report download:
XLSX · DOCX · HTML · SARIF</a:t>
            </a:r>
            <a:endParaRPr sz="900" b="0" i="0">
              <a:solidFill>
                <a:srgbClr val="1E293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44383" y="5394960"/>
            <a:ext cx="42793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44383" y="5394960"/>
            <a:ext cx="54864" cy="69494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0688" y="5486400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Role-based access —
Manager · Scanner · Viewer</a:t>
            </a:r>
            <a:endParaRPr sz="9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WEB PLATFORM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Dashboard Walkthrough — Key Pages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06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16 UI pages  ·  18 REST API endpoints  ·  WebSocket real-time logs   ·   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pic>
        <p:nvPicPr>
          <p:cNvPr id="12" name="Picture 11" descr="sca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78992"/>
            <a:ext cx="5888736" cy="24505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01168" y="3529584"/>
            <a:ext cx="5888736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3529584"/>
            <a:ext cx="50292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566160"/>
            <a:ext cx="5705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84C7"/>
                </a:solidFill>
              </a:rPr>
              <a:t>  Scan Management</a:t>
            </a:r>
            <a:endParaRPr sz="850" b="1" i="0">
              <a:solidFill>
                <a:srgbClr val="0284C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8" y="3730752"/>
            <a:ext cx="57058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Launch, cancel, and rerun scans — with full status history and duration tracking</a:t>
            </a:r>
            <a:endParaRPr sz="750" b="0" i="1">
              <a:solidFill>
                <a:srgbClr val="1E293B"/>
              </a:solidFill>
            </a:endParaRPr>
          </a:p>
        </p:txBody>
      </p:sp>
      <p:pic>
        <p:nvPicPr>
          <p:cNvPr id="17" name="Picture 16" descr="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078992"/>
            <a:ext cx="5888736" cy="245059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18504" y="3529584"/>
            <a:ext cx="5888736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3529584"/>
            <a:ext cx="50292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566160"/>
            <a:ext cx="5705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84C7"/>
                </a:solidFill>
              </a:rPr>
              <a:t>  Findings &amp; Triage</a:t>
            </a:r>
            <a:endParaRPr sz="850" b="1" i="0">
              <a:solidFill>
                <a:srgbClr val="0284C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9944" y="3730752"/>
            <a:ext cx="57058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Filter by severity, OWASP category, or FP status — Smart Retest any finding instantly</a:t>
            </a:r>
            <a:endParaRPr sz="750" b="0" i="1">
              <a:solidFill>
                <a:srgbClr val="1E293B"/>
              </a:solidFill>
            </a:endParaRPr>
          </a:p>
        </p:txBody>
      </p:sp>
      <p:pic>
        <p:nvPicPr>
          <p:cNvPr id="22" name="Picture 21" descr="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3986784"/>
            <a:ext cx="5888736" cy="245059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01168" y="6437376"/>
            <a:ext cx="5888736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6437376"/>
            <a:ext cx="50292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6473952"/>
            <a:ext cx="5705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84C7"/>
                </a:solidFill>
              </a:rPr>
              <a:t>  AI Analysis &amp; FP Intelligence</a:t>
            </a:r>
            <a:endParaRPr sz="850" b="1" i="0">
              <a:solidFill>
                <a:srgbClr val="0284C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" y="6638544"/>
            <a:ext cx="57058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7-pillar AI engine results — FP rate, severity re-classification, per-app breakdown</a:t>
            </a:r>
            <a:endParaRPr sz="750" b="0" i="1">
              <a:solidFill>
                <a:srgbClr val="1E293B"/>
              </a:solidFill>
            </a:endParaRPr>
          </a:p>
        </p:txBody>
      </p:sp>
      <p:pic>
        <p:nvPicPr>
          <p:cNvPr id="27" name="Picture 26" descr="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986784"/>
            <a:ext cx="5888736" cy="245059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318504" y="6437376"/>
            <a:ext cx="5888736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6437376"/>
            <a:ext cx="50292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6473952"/>
            <a:ext cx="5705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84C7"/>
                </a:solidFill>
              </a:rPr>
              <a:t>  Multi-LLM &amp; Configuration</a:t>
            </a:r>
            <a:endParaRPr sz="850" b="1" i="0">
              <a:solidFill>
                <a:srgbClr val="0284C7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9944" y="6638544"/>
            <a:ext cx="57058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E293B"/>
                </a:solidFill>
              </a:rPr>
              <a:t>Switch between Claude, OpenAI, and Ollama without restarting — hot-swap in the UI</a:t>
            </a:r>
            <a:endParaRPr sz="750" b="0" i="1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548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STRATEGIC PLAN</a:t>
            </a:r>
            <a:endParaRPr sz="800" b="1" i="0">
              <a:solidFill>
                <a:srgbClr val="0284C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Roadmap — Phase Plan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766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14 / 15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62482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DAST AI Framework  ·  Accenture Security  ·  2026  ·  jagdish.salunke@accenture.com</a:t>
            </a:r>
            <a:endParaRPr sz="750" b="0" i="0">
              <a:solidFill>
                <a:srgbClr val="64748B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28600" y="1078992"/>
            <a:ext cx="3840480" cy="62179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111556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  COMPLETE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843784" y="1170432"/>
            <a:ext cx="1097280" cy="38404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284C7"/>
                </a:solidFill>
              </a:rPr>
              <a:t>NOW</a:t>
            </a:r>
            <a:endParaRPr sz="950" b="1" i="0">
              <a:solidFill>
                <a:srgbClr val="0284C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847088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11095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ZAP + Nmap scanning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2359152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359152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231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AI FP reduction (hybrid engine)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2871216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71216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93522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7-Pillar AI enrichment pipeline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383280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472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Excel · Word · SARIF · HTML reports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3895344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95344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593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HAR · Form · TOTP authentication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440740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407408"/>
            <a:ext cx="45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47141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Browser dashboard  (RBAC, WebSocket)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4206240" y="1078992"/>
            <a:ext cx="3840480" cy="621792"/>
          </a:xfrm>
          <a:prstGeom prst="ellipse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111556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  IN PROGRESS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821423" y="1170432"/>
            <a:ext cx="1097280" cy="38404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3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634D4"/>
                </a:solidFill>
              </a:rPr>
              <a:t>Q3 2026</a:t>
            </a:r>
            <a:endParaRPr sz="950" b="1" i="0">
              <a:solidFill>
                <a:srgbClr val="5634D4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251959" y="1847088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59" y="1847088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1911095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CI/CD pipeline integration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51959" y="2359152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2359152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24231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Multi-target parallel scans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251959" y="2871216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59" y="2871216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293522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JIRA · ServiceNow auto-ticketing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251959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59" y="3383280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4472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CVSS v4 scoring support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251959" y="3895344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59" y="3895344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39593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Slack · Teams alert webhooks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251959" y="440740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59" y="4407408"/>
            <a:ext cx="45720" cy="457200"/>
          </a:xfrm>
          <a:prstGeom prst="rect">
            <a:avLst/>
          </a:prstGeom>
          <a:solidFill>
            <a:srgbClr val="563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447141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Scheduled scan automation UI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8183879" y="1078992"/>
            <a:ext cx="3840480" cy="6217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111556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  PLANNED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10799063" y="1170432"/>
            <a:ext cx="1097280" cy="38404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9063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A580C"/>
                </a:solidFill>
              </a:rPr>
              <a:t>Q4 2026</a:t>
            </a:r>
            <a:endParaRPr sz="950" b="1" i="0">
              <a:solidFill>
                <a:srgbClr val="EA580C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229600" y="1847088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1847088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1911095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Cloud-native Docker deployment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229600" y="2359152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0" y="2359152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4231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SOC real-time dashboard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229600" y="2871216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2871216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293522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Custom LLM fine-tuning on history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229600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29600" y="3383280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34472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Compliance mapping (PCI · ISO 27001)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229600" y="3895344"/>
            <a:ext cx="3749039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29600" y="3895344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1040" y="39593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Executive risk score trending</a:t>
            </a:r>
            <a:endParaRPr sz="950" b="0" i="0">
              <a:solidFill>
                <a:srgbClr val="1E293B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229600" y="440740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9600" y="4407408"/>
            <a:ext cx="45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47141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  Multi-tenant workspace support</a:t>
            </a:r>
            <a:endParaRPr sz="95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11919</Words>
  <Application>WPS Presentation</Application>
  <PresentationFormat>On-screen Show (4:3)</PresentationFormat>
  <Paragraphs>884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DejaVu Sans</vt:lpstr>
      <vt:lpstr>Calibri</vt:lpstr>
      <vt:lpstr>Noto Sans Symbols2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devsecops</cp:lastModifiedBy>
  <cp:revision>2</cp:revision>
  <dcterms:created xsi:type="dcterms:W3CDTF">2026-05-04T19:21:23Z</dcterms:created>
  <dcterms:modified xsi:type="dcterms:W3CDTF">2026-05-04T19:21:23Z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