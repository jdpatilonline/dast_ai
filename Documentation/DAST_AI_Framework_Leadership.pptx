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77" r:id="rId6"/>
    <p:sldId id="265" r:id="rId7"/>
    <p:sldId id="266" r:id="rId8"/>
    <p:sldId id="267" r:id="rId9"/>
    <p:sldId id="268" r:id="rId10"/>
    <p:sldId id="278" r:id="rId11"/>
    <p:sldId id="270" r:id="rId12"/>
    <p:sldId id="280" r:id="rId13"/>
    <p:sldId id="281" r:id="rId14"/>
    <p:sldId id="282" r:id="rId15"/>
    <p:sldId id="288" r:id="rId16"/>
    <p:sldId id="279" r:id="rId17"/>
    <p:sldId id="289" r:id="rId18"/>
  </p:sldIdLst>
  <p:sldSz cx="1218882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78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617720" cy="685800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99432" y="0"/>
            <a:ext cx="50292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89888" y="1188720"/>
            <a:ext cx="1828800" cy="182880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89888" y="118872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</a:rPr>
              <a:t>🛡️</a:t>
            </a:r>
            <a:endParaRPr sz="5200" b="0" i="0">
              <a:solidFill>
                <a:srgbClr val="FFFF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74320" y="3291840"/>
            <a:ext cx="4059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DAST AI</a:t>
            </a:r>
            <a:endParaRPr sz="3000" b="1" i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74320" y="3877056"/>
            <a:ext cx="40599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284C7"/>
                </a:solidFill>
              </a:rPr>
              <a:t>FRAMEWORK</a:t>
            </a:r>
            <a:endParaRPr sz="1300" b="1" i="0">
              <a:solidFill>
                <a:srgbClr val="0284C7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4352544"/>
            <a:ext cx="3511296" cy="3657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443984"/>
            <a:ext cx="40599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</a:rPr>
              <a:t>Accenture Security  ·  2026</a:t>
            </a:r>
            <a:endParaRPr sz="900" b="0" i="0">
              <a:solidFill>
                <a:srgbClr val="64748B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919472" y="1261872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284C7"/>
                </a:solidFill>
              </a:rPr>
              <a:t>ENTERPRISE SECURITY INTELLIGENCE — DELIVERED THROUGH YOUR BROWSER</a:t>
            </a:r>
            <a:endParaRPr sz="950" b="1" i="0">
              <a:solidFill>
                <a:srgbClr val="0284C7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919472" y="1719072"/>
            <a:ext cx="704088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>
                <a:solidFill>
                  <a:srgbClr val="0F1E35"/>
                </a:solidFill>
              </a:rPr>
              <a:t>DAST </a:t>
            </a:r>
            <a:r>
              <a:rPr sz="3600" b="1" i="0">
                <a:solidFill>
                  <a:srgbClr val="0F1E35"/>
                </a:solidFill>
              </a:rPr>
              <a:t>Security Platform</a:t>
            </a:r>
            <a:endParaRPr sz="3600" b="1" i="0">
              <a:solidFill>
                <a:srgbClr val="0F1E35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919472" y="3200400"/>
            <a:ext cx="70408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9472" y="3310128"/>
            <a:ext cx="7040880" cy="622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1E293B"/>
                </a:solidFill>
              </a:rPr>
              <a:t>AI-powered DAST platform with browser dashboard. Launch scans, triage findings, and download board-ready reports — </a:t>
            </a:r>
            <a:r>
              <a:rPr lang="en-US" sz="1150" b="0" i="1">
                <a:solidFill>
                  <a:srgbClr val="1E293B"/>
                </a:solidFill>
              </a:rPr>
              <a:t>with and without </a:t>
            </a:r>
            <a:r>
              <a:rPr sz="1150" b="0" i="1">
                <a:solidFill>
                  <a:srgbClr val="1E293B"/>
                </a:solidFill>
              </a:rPr>
              <a:t>CLI </a:t>
            </a:r>
            <a:r>
              <a:rPr lang="en-US" sz="1150" b="0" i="1">
                <a:solidFill>
                  <a:srgbClr val="1E293B"/>
                </a:solidFill>
              </a:rPr>
              <a:t>based</a:t>
            </a:r>
            <a:r>
              <a:rPr sz="1150" b="0" i="1">
                <a:solidFill>
                  <a:srgbClr val="1E293B"/>
                </a:solidFill>
              </a:rPr>
              <a:t>. Powered by local AI (Ollama / Claude / GPT). Fully on-premise.</a:t>
            </a:r>
            <a:endParaRPr sz="1150" b="0" i="1">
              <a:solidFill>
                <a:srgbClr val="1E293B"/>
              </a:solidFill>
            </a:endParaRPr>
          </a:p>
        </p:txBody>
      </p:sp>
      <p:sp>
        <p:nvSpPr>
          <p:cNvPr id="15" name="Oval 14"/>
          <p:cNvSpPr/>
          <p:nvPr/>
        </p:nvSpPr>
        <p:spPr>
          <a:xfrm>
            <a:off x="4919472" y="4352544"/>
            <a:ext cx="850392" cy="292608"/>
          </a:xfrm>
          <a:prstGeom prst="ellipse">
            <a:avLst/>
          </a:prstGeom>
          <a:solidFill>
            <a:srgbClr val="F1F5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5192" y="4389120"/>
            <a:ext cx="7589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284C7"/>
                </a:solidFill>
              </a:rPr>
              <a:t>Web UI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17" name="Oval 16"/>
          <p:cNvSpPr/>
          <p:nvPr/>
        </p:nvSpPr>
        <p:spPr>
          <a:xfrm>
            <a:off x="5879592" y="4352544"/>
            <a:ext cx="1042415" cy="292608"/>
          </a:xfrm>
          <a:prstGeom prst="ellipse">
            <a:avLst/>
          </a:prstGeom>
          <a:solidFill>
            <a:srgbClr val="F1F5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5312" y="4389120"/>
            <a:ext cx="95097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284C7"/>
                </a:solidFill>
              </a:rPr>
              <a:t>REST API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19" name="Oval 18"/>
          <p:cNvSpPr/>
          <p:nvPr/>
        </p:nvSpPr>
        <p:spPr>
          <a:xfrm>
            <a:off x="7031736" y="4352544"/>
            <a:ext cx="1138428" cy="292608"/>
          </a:xfrm>
          <a:prstGeom prst="ellipse">
            <a:avLst/>
          </a:prstGeom>
          <a:solidFill>
            <a:srgbClr val="F1F5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77455" y="4389120"/>
            <a:ext cx="10469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284C7"/>
                </a:solidFill>
              </a:rPr>
              <a:t>Multi-LLM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21" name="Oval 20"/>
          <p:cNvSpPr/>
          <p:nvPr/>
        </p:nvSpPr>
        <p:spPr>
          <a:xfrm>
            <a:off x="8279892" y="4352544"/>
            <a:ext cx="1234440" cy="292608"/>
          </a:xfrm>
          <a:prstGeom prst="ellipse">
            <a:avLst/>
          </a:prstGeom>
          <a:solidFill>
            <a:srgbClr val="F1F5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5612" y="4389120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284C7"/>
                </a:solidFill>
              </a:rPr>
              <a:t>On-Premise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23" name="Oval 22"/>
          <p:cNvSpPr/>
          <p:nvPr/>
        </p:nvSpPr>
        <p:spPr>
          <a:xfrm>
            <a:off x="9624060" y="4352544"/>
            <a:ext cx="1426464" cy="292608"/>
          </a:xfrm>
          <a:prstGeom prst="ellipse">
            <a:avLst/>
          </a:prstGeom>
          <a:solidFill>
            <a:srgbClr val="F1F5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69780" y="4389120"/>
            <a:ext cx="13350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284C7"/>
                </a:solidFill>
              </a:rPr>
              <a:t>OWASP Top 10</a:t>
            </a:r>
            <a:endParaRPr sz="800" b="1" i="0">
              <a:solidFill>
                <a:srgbClr val="0284C7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" y="54864"/>
            <a:ext cx="10058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BUSINESS CASE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4592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Challenge &amp; Our Solution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7665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64748B"/>
                </a:solidFill>
              </a:rPr>
              <a:t>02 / 15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28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624828"/>
            <a:ext cx="11823192" cy="20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DAST AI Framework  ·  Accenture Security  ·  2026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201168" y="1078992"/>
            <a:ext cx="5623560" cy="5376672"/>
          </a:xfrm>
          <a:prstGeom prst="ellipse">
            <a:avLst/>
          </a:prstGeom>
          <a:solidFill>
            <a:srgbClr val="F1F5F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1168" y="1078992"/>
            <a:ext cx="5623560" cy="40233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109728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CURRENT PAIN POINTS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74320" y="1682496"/>
            <a:ext cx="5477256" cy="987552"/>
          </a:xfrm>
          <a:prstGeom prst="rect">
            <a:avLst/>
          </a:prstGeom>
          <a:solidFill>
            <a:srgbClr val="FF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1682496"/>
            <a:ext cx="50292" cy="9875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" y="1746504"/>
            <a:ext cx="5230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DC2626"/>
                </a:solidFill>
              </a:rPr>
              <a:t>  Alert Fatigue</a:t>
            </a:r>
            <a:endParaRPr sz="1050" b="1" i="0">
              <a:solidFill>
                <a:srgbClr val="DC2626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02336" y="2048256"/>
            <a:ext cx="52303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60–70% of analyst time wasted on false positives. Critical findings buried in noise.</a:t>
            </a:r>
            <a:endParaRPr sz="900" b="0" i="0">
              <a:solidFill>
                <a:srgbClr val="1E293B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74320" y="2761488"/>
            <a:ext cx="5477256" cy="987552"/>
          </a:xfrm>
          <a:prstGeom prst="rect">
            <a:avLst/>
          </a:prstGeom>
          <a:solidFill>
            <a:srgbClr val="FF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2761488"/>
            <a:ext cx="50292" cy="9875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" y="2825496"/>
            <a:ext cx="5230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DC2626"/>
                </a:solidFill>
              </a:rPr>
              <a:t>  Inconsistent Scoring</a:t>
            </a:r>
            <a:endParaRPr sz="1050" b="1" i="0">
              <a:solidFill>
                <a:srgbClr val="DC2626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02336" y="3127248"/>
            <a:ext cx="52303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Raw scanner output has no business context or AI calibration. Teams act on wrong priorities.</a:t>
            </a:r>
            <a:endParaRPr sz="900" b="0" i="0">
              <a:solidFill>
                <a:srgbClr val="1E293B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74320" y="3840480"/>
            <a:ext cx="5477256" cy="987552"/>
          </a:xfrm>
          <a:prstGeom prst="rect">
            <a:avLst/>
          </a:prstGeom>
          <a:solidFill>
            <a:srgbClr val="FF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3840480"/>
            <a:ext cx="50292" cy="9875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2336" y="3904488"/>
            <a:ext cx="5230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DC2626"/>
                </a:solidFill>
              </a:rPr>
              <a:t>  Tool Sprawl</a:t>
            </a:r>
            <a:endParaRPr sz="1050" b="1" i="0">
              <a:solidFill>
                <a:srgbClr val="DC2626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02336" y="4206240"/>
            <a:ext cx="52303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ZAP, Nmap, recon outputs are siloed. No unified risk picture or cross-tool correlation.</a:t>
            </a:r>
            <a:endParaRPr sz="900" b="0" i="0">
              <a:solidFill>
                <a:srgbClr val="1E293B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74320" y="4919472"/>
            <a:ext cx="5477256" cy="987552"/>
          </a:xfrm>
          <a:prstGeom prst="rect">
            <a:avLst/>
          </a:prstGeom>
          <a:solidFill>
            <a:srgbClr val="FF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4919472"/>
            <a:ext cx="50292" cy="9875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2336" y="4983480"/>
            <a:ext cx="5230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DC2626"/>
                </a:solidFill>
              </a:rPr>
              <a:t>  No Web Access</a:t>
            </a:r>
            <a:endParaRPr sz="1050" b="1" i="0">
              <a:solidFill>
                <a:srgbClr val="DC2626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02336" y="5285232"/>
            <a:ext cx="523036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Security tools locked to CLI. No team collaboration, scheduling, or shared visibility.</a:t>
            </a:r>
            <a:endParaRPr sz="900" b="0" i="0">
              <a:solidFill>
                <a:srgbClr val="1E293B"/>
              </a:solidFill>
            </a:endParaRPr>
          </a:p>
        </p:txBody>
      </p:sp>
      <p:sp>
        <p:nvSpPr>
          <p:cNvPr id="31" name="Oval 30"/>
          <p:cNvSpPr/>
          <p:nvPr/>
        </p:nvSpPr>
        <p:spPr>
          <a:xfrm>
            <a:off x="6163056" y="1078992"/>
            <a:ext cx="5833872" cy="5376672"/>
          </a:xfrm>
          <a:prstGeom prst="ellipse">
            <a:avLst/>
          </a:prstGeom>
          <a:solidFill>
            <a:srgbClr val="F1F5F9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63056" y="1078992"/>
            <a:ext cx="5833872" cy="40233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10972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DAST AI FRAMEWORK DELIVERS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6236208" y="1682496"/>
            <a:ext cx="5687568" cy="987552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6208" y="1682496"/>
            <a:ext cx="50292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4224" y="1746504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284C7"/>
                </a:solidFill>
              </a:rPr>
              <a:t>  AI Noise Filter</a:t>
            </a:r>
            <a:endParaRPr sz="1050" b="1" i="0">
              <a:solidFill>
                <a:srgbClr val="0284C7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364224" y="2048256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40–60% false positive reduction via hybrid AI + rule engine. Analyst time focused on real risk.</a:t>
            </a:r>
            <a:endParaRPr sz="900" b="0" i="0">
              <a:solidFill>
                <a:srgbClr val="1E293B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236208" y="2761488"/>
            <a:ext cx="5687568" cy="987552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36208" y="2761488"/>
            <a:ext cx="50292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64224" y="2825496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284C7"/>
                </a:solidFill>
              </a:rPr>
              <a:t>  LLM Risk Scoring</a:t>
            </a:r>
            <a:endParaRPr sz="1050" b="1" i="0">
              <a:solidFill>
                <a:srgbClr val="0284C7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364224" y="3127248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Every finding re-scored with OWASP context and exploit likelihood. Accurate, risk-ordered output.</a:t>
            </a:r>
            <a:endParaRPr sz="900" b="0" i="0">
              <a:solidFill>
                <a:srgbClr val="1E293B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236208" y="3840480"/>
            <a:ext cx="5687568" cy="987552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36208" y="3840480"/>
            <a:ext cx="50292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64224" y="3904488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284C7"/>
                </a:solidFill>
              </a:rPr>
              <a:t>  Unified Pipeline</a:t>
            </a:r>
            <a:endParaRPr sz="1050" b="1" i="0">
              <a:solidFill>
                <a:srgbClr val="0284C7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364224" y="4206240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ZAP + Nmap + AI merged into one normalised finding set with full cross-tool correlation.</a:t>
            </a:r>
            <a:endParaRPr sz="900" b="0" i="0">
              <a:solidFill>
                <a:srgbClr val="1E293B"/>
              </a:solidFill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6236208" y="4919472"/>
            <a:ext cx="5687568" cy="987552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36208" y="4919472"/>
            <a:ext cx="50292" cy="9875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64224" y="4983480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284C7"/>
                </a:solidFill>
              </a:rPr>
              <a:t>  Browser Dashboard</a:t>
            </a:r>
            <a:endParaRPr sz="1050" b="1" i="0">
              <a:solidFill>
                <a:srgbClr val="0284C7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364224" y="5285232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Full scan-to-report in the browser. RBAC for the whole team. No CLI knowledge required.</a:t>
            </a:r>
            <a:endParaRPr sz="900" b="0" i="0">
              <a:solidFill>
                <a:srgbClr val="1E293B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" y="54864"/>
            <a:ext cx="10058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BUSINESS IMPACT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4592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Key Capabilities &amp; Impact Metrics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7665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64748B"/>
                </a:solidFill>
              </a:rPr>
              <a:t>03 / 15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28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624828"/>
            <a:ext cx="11823192" cy="20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DAST AI Framework  ·  Accenture Security  ·  2026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256032" y="1078992"/>
            <a:ext cx="3703320" cy="1572768"/>
          </a:xfrm>
          <a:prstGeom prst="ellipse">
            <a:avLst/>
          </a:prstGeom>
          <a:solidFill>
            <a:srgbClr val="F1F5F9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1078992"/>
            <a:ext cx="3703320" cy="5943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" y="1188719"/>
            <a:ext cx="3611879" cy="817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284C7"/>
                </a:solidFill>
              </a:rPr>
              <a:t>40–60%</a:t>
            </a:r>
            <a:endParaRPr sz="2800" b="1" i="0">
              <a:solidFill>
                <a:srgbClr val="0284C7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01752" y="1991197"/>
            <a:ext cx="3611879" cy="597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E293B"/>
                </a:solidFill>
              </a:rPr>
              <a:t>False Positive
Reduction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16" name="Oval 15"/>
          <p:cNvSpPr/>
          <p:nvPr/>
        </p:nvSpPr>
        <p:spPr>
          <a:xfrm>
            <a:off x="4233672" y="1078992"/>
            <a:ext cx="3703320" cy="1572768"/>
          </a:xfrm>
          <a:prstGeom prst="ellipse">
            <a:avLst/>
          </a:prstGeom>
          <a:solidFill>
            <a:srgbClr val="F1F5F9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33672" y="1078992"/>
            <a:ext cx="3703320" cy="594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9392" y="1188719"/>
            <a:ext cx="3611879" cy="817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6A34A"/>
                </a:solidFill>
              </a:rPr>
              <a:t>92%+</a:t>
            </a:r>
            <a:endParaRPr sz="2800" b="1" i="0">
              <a:solidFill>
                <a:srgbClr val="16A34A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279392" y="1991197"/>
            <a:ext cx="3611879" cy="597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E293B"/>
                </a:solidFill>
              </a:rPr>
              <a:t>AI Severity
Accuracy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20" name="Oval 19"/>
          <p:cNvSpPr/>
          <p:nvPr/>
        </p:nvSpPr>
        <p:spPr>
          <a:xfrm>
            <a:off x="8211311" y="1078992"/>
            <a:ext cx="3703320" cy="1572768"/>
          </a:xfrm>
          <a:prstGeom prst="ellipse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11311" y="1078992"/>
            <a:ext cx="3703320" cy="594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7031" y="1188719"/>
            <a:ext cx="3611879" cy="817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563EB"/>
                </a:solidFill>
              </a:rPr>
              <a:t>7 Formats</a:t>
            </a:r>
            <a:endParaRPr sz="2800" b="1" i="0">
              <a:solidFill>
                <a:srgbClr val="2563EB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257031" y="1991197"/>
            <a:ext cx="3611879" cy="597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E293B"/>
                </a:solidFill>
              </a:rPr>
              <a:t>One-Click Report
Download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24" name="Oval 23"/>
          <p:cNvSpPr/>
          <p:nvPr/>
        </p:nvSpPr>
        <p:spPr>
          <a:xfrm>
            <a:off x="256032" y="2852928"/>
            <a:ext cx="3703320" cy="1572768"/>
          </a:xfrm>
          <a:prstGeom prst="ellipse">
            <a:avLst/>
          </a:prstGeom>
          <a:solidFill>
            <a:srgbClr val="F1F5F9"/>
          </a:solidFill>
          <a:ln w="19050">
            <a:solidFill>
              <a:srgbClr val="563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6032" y="2852928"/>
            <a:ext cx="3703320" cy="59436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1752" y="2962656"/>
            <a:ext cx="3611879" cy="817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5634D4"/>
                </a:solidFill>
              </a:rPr>
              <a:t>3 LLM</a:t>
            </a:r>
            <a:endParaRPr sz="2800" b="1" i="0">
              <a:solidFill>
                <a:srgbClr val="5634D4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01752" y="3765133"/>
            <a:ext cx="3611879" cy="597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E293B"/>
                </a:solidFill>
              </a:rPr>
              <a:t>Claude · GPT · Ollama
Providers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28" name="Oval 27"/>
          <p:cNvSpPr/>
          <p:nvPr/>
        </p:nvSpPr>
        <p:spPr>
          <a:xfrm>
            <a:off x="4233672" y="2852928"/>
            <a:ext cx="3703320" cy="1572768"/>
          </a:xfrm>
          <a:prstGeom prst="ellipse">
            <a:avLst/>
          </a:prstGeom>
          <a:solidFill>
            <a:srgbClr val="F1F5F9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33672" y="2852928"/>
            <a:ext cx="3703320" cy="5943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79392" y="2962656"/>
            <a:ext cx="3611879" cy="817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EA580C"/>
                </a:solidFill>
              </a:rPr>
              <a:t>RBAC</a:t>
            </a:r>
            <a:endParaRPr sz="2800" b="1" i="0">
              <a:solidFill>
                <a:srgbClr val="EA580C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279392" y="3765133"/>
            <a:ext cx="3611879" cy="597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E293B"/>
                </a:solidFill>
              </a:rPr>
              <a:t>Team-Ready
Multi-User Access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32" name="Oval 31"/>
          <p:cNvSpPr/>
          <p:nvPr/>
        </p:nvSpPr>
        <p:spPr>
          <a:xfrm>
            <a:off x="8211311" y="2852928"/>
            <a:ext cx="3703320" cy="1572768"/>
          </a:xfrm>
          <a:prstGeom prst="ellipse">
            <a:avLst/>
          </a:prstGeom>
          <a:solidFill>
            <a:srgbClr val="F1F5F9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11311" y="2852928"/>
            <a:ext cx="3703320" cy="59436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57031" y="2962656"/>
            <a:ext cx="3611879" cy="817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891B2"/>
                </a:solidFill>
              </a:rPr>
              <a:t>Zero CLI</a:t>
            </a:r>
            <a:endParaRPr sz="2800" b="1" i="0">
              <a:solidFill>
                <a:srgbClr val="0891B2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257031" y="3765133"/>
            <a:ext cx="3611879" cy="597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E293B"/>
                </a:solidFill>
              </a:rPr>
              <a:t>Browser-First
Operation</a:t>
            </a:r>
            <a:endParaRPr sz="850" b="0" i="0">
              <a:solidFill>
                <a:srgbClr val="1E293B"/>
              </a:solidFill>
            </a:endParaRP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4645152"/>
            <a:ext cx="3977639" cy="182880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4572000"/>
            <a:ext cx="3977639" cy="1920240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4572000"/>
            <a:ext cx="3364992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" y="54864"/>
            <a:ext cx="10058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AI ARCHITECTURE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4592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7-Pillar AI Architecture &amp; Scan Pipeline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7665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64748B"/>
                </a:solidFill>
              </a:rPr>
              <a:t>09 / 15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28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624828"/>
            <a:ext cx="11823192" cy="20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DAST AI Framework  ·  Accenture Security  ·  2026 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201168" y="1078992"/>
            <a:ext cx="1591056" cy="2340864"/>
          </a:xfrm>
          <a:prstGeom prst="ellipse">
            <a:avLst/>
          </a:prstGeom>
          <a:solidFill>
            <a:srgbClr val="F1F5F9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1168" y="1078992"/>
            <a:ext cx="1591056" cy="34747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" y="1115568"/>
            <a:ext cx="15910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P1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01168" y="1463039"/>
            <a:ext cx="1591056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284C7"/>
                </a:solidFill>
              </a:rPr>
              <a:t>Auth &amp;
Session</a:t>
            </a:r>
            <a:endParaRPr sz="1150" b="1" i="0">
              <a:solidFill>
                <a:srgbClr val="0284C7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74320" y="2304288"/>
            <a:ext cx="1444752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6032" y="2395728"/>
            <a:ext cx="1481328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E293B"/>
                </a:solidFill>
              </a:rPr>
              <a:t>HAR · Form · TOTP
Watchdog re-auth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18" name="Oval 17"/>
          <p:cNvSpPr/>
          <p:nvPr/>
        </p:nvSpPr>
        <p:spPr>
          <a:xfrm>
            <a:off x="1883664" y="1078992"/>
            <a:ext cx="1591056" cy="2340864"/>
          </a:xfrm>
          <a:prstGeom prst="ellipse">
            <a:avLst/>
          </a:prstGeom>
          <a:solidFill>
            <a:srgbClr val="F1F5F9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83664" y="1078992"/>
            <a:ext cx="1591056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83664" y="1115568"/>
            <a:ext cx="15910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P2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883664" y="1463039"/>
            <a:ext cx="1591056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6A34A"/>
                </a:solidFill>
              </a:rPr>
              <a:t>FP
Reduction</a:t>
            </a:r>
            <a:endParaRPr sz="1150" b="1" i="0">
              <a:solidFill>
                <a:srgbClr val="16A34A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956816" y="2304288"/>
            <a:ext cx="1444752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38528" y="2395728"/>
            <a:ext cx="1481328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E293B"/>
                </a:solidFill>
              </a:rPr>
              <a:t>AI + Rule hybrid
40–60% noise cut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24" name="Oval 23"/>
          <p:cNvSpPr/>
          <p:nvPr/>
        </p:nvSpPr>
        <p:spPr>
          <a:xfrm>
            <a:off x="3566160" y="1078992"/>
            <a:ext cx="1591056" cy="2340864"/>
          </a:xfrm>
          <a:prstGeom prst="ellipse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66160" y="1078992"/>
            <a:ext cx="1591056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60" y="1115568"/>
            <a:ext cx="15910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P3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566160" y="1463039"/>
            <a:ext cx="1591056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563EB"/>
                </a:solidFill>
              </a:rPr>
              <a:t>AI
Priority</a:t>
            </a:r>
            <a:endParaRPr sz="1150" b="1" i="0">
              <a:solidFill>
                <a:srgbClr val="2563EB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639312" y="2304288"/>
            <a:ext cx="1444752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21024" y="2395728"/>
            <a:ext cx="1481328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E293B"/>
                </a:solidFill>
              </a:rPr>
              <a:t>OWASP scoring
Exploit ranking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30" name="Oval 29"/>
          <p:cNvSpPr/>
          <p:nvPr/>
        </p:nvSpPr>
        <p:spPr>
          <a:xfrm>
            <a:off x="5248656" y="1078992"/>
            <a:ext cx="1591056" cy="2340864"/>
          </a:xfrm>
          <a:prstGeom prst="ellipse">
            <a:avLst/>
          </a:prstGeom>
          <a:solidFill>
            <a:srgbClr val="F1F5F9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48656" y="1078992"/>
            <a:ext cx="1591056" cy="34747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48656" y="1115568"/>
            <a:ext cx="15910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P4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248656" y="1463039"/>
            <a:ext cx="1591056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EA580C"/>
                </a:solidFill>
              </a:rPr>
              <a:t>Policy
Optimize</a:t>
            </a:r>
            <a:endParaRPr sz="1150" b="1" i="0">
              <a:solidFill>
                <a:srgbClr val="EA580C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5321808" y="2304288"/>
            <a:ext cx="1444752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0" y="2395728"/>
            <a:ext cx="1481328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E293B"/>
                </a:solidFill>
              </a:rPr>
              <a:t>ZAP policy tuning
A/B scan compare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36" name="Oval 35"/>
          <p:cNvSpPr/>
          <p:nvPr/>
        </p:nvSpPr>
        <p:spPr>
          <a:xfrm>
            <a:off x="6931152" y="1078992"/>
            <a:ext cx="1591056" cy="2340864"/>
          </a:xfrm>
          <a:prstGeom prst="ellipse">
            <a:avLst/>
          </a:prstGeom>
          <a:solidFill>
            <a:srgbClr val="F1F5F9"/>
          </a:solidFill>
          <a:ln w="19050">
            <a:solidFill>
              <a:srgbClr val="563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31152" y="1078992"/>
            <a:ext cx="1591056" cy="347472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31152" y="1115568"/>
            <a:ext cx="15910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P5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931152" y="1463039"/>
            <a:ext cx="1591056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5634D4"/>
                </a:solidFill>
              </a:rPr>
              <a:t>Trend
Analysis</a:t>
            </a:r>
            <a:endParaRPr sz="1150" b="1" i="0">
              <a:solidFill>
                <a:srgbClr val="5634D4"/>
              </a:solidFill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7004304" y="2304288"/>
            <a:ext cx="1444752" cy="36576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86016" y="2395728"/>
            <a:ext cx="1481328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E293B"/>
                </a:solidFill>
              </a:rPr>
              <a:t>Lineage tracking
Regression detect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42" name="Oval 41"/>
          <p:cNvSpPr/>
          <p:nvPr/>
        </p:nvSpPr>
        <p:spPr>
          <a:xfrm>
            <a:off x="8613648" y="1078992"/>
            <a:ext cx="1591056" cy="2340864"/>
          </a:xfrm>
          <a:prstGeom prst="ellipse">
            <a:avLst/>
          </a:prstGeom>
          <a:solidFill>
            <a:srgbClr val="F1F5F9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613648" y="1078992"/>
            <a:ext cx="1591056" cy="34747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13648" y="1115568"/>
            <a:ext cx="15910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P6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613648" y="1463039"/>
            <a:ext cx="1591056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891B2"/>
                </a:solidFill>
              </a:rPr>
              <a:t>AI
Documentation</a:t>
            </a:r>
            <a:endParaRPr sz="1150" b="1" i="0">
              <a:solidFill>
                <a:srgbClr val="0891B2"/>
              </a:solidFill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8686800" y="2304288"/>
            <a:ext cx="1444752" cy="36576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68512" y="2395728"/>
            <a:ext cx="1481328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E293B"/>
                </a:solidFill>
              </a:rPr>
              <a:t>Exec summary
OWASP mapping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48" name="Oval 47"/>
          <p:cNvSpPr/>
          <p:nvPr/>
        </p:nvSpPr>
        <p:spPr>
          <a:xfrm>
            <a:off x="10296144" y="1078992"/>
            <a:ext cx="1591056" cy="2340864"/>
          </a:xfrm>
          <a:prstGeom prst="ellipse">
            <a:avLst/>
          </a:prstGeom>
          <a:solidFill>
            <a:srgbClr val="F1F5F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296144" y="1078992"/>
            <a:ext cx="1591056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96144" y="1115568"/>
            <a:ext cx="15910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P7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296144" y="1463039"/>
            <a:ext cx="1591056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DC2626"/>
                </a:solidFill>
              </a:rPr>
              <a:t>AI
Validation</a:t>
            </a:r>
            <a:endParaRPr sz="1150" b="1" i="0">
              <a:solidFill>
                <a:srgbClr val="DC2626"/>
              </a:solidFill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10369296" y="2304288"/>
            <a:ext cx="1444752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351008" y="2395728"/>
            <a:ext cx="1481328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E293B"/>
                </a:solidFill>
              </a:rPr>
              <a:t>Accuracy scoring
92%+ agreement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54" name="Oval 53"/>
          <p:cNvSpPr/>
          <p:nvPr/>
        </p:nvSpPr>
        <p:spPr>
          <a:xfrm>
            <a:off x="201168" y="3547872"/>
            <a:ext cx="11786616" cy="347472"/>
          </a:xfrm>
          <a:prstGeom prst="ellipse">
            <a:avLst/>
          </a:prstGeom>
          <a:solidFill>
            <a:srgbClr val="F1F5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01168" y="3547872"/>
            <a:ext cx="54864" cy="34747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3602736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284C7"/>
                </a:solidFill>
              </a:rPr>
              <a:t>All 7 pillars run automatically when you click  Start Scan  in the web UI — no command line needed.</a:t>
            </a:r>
            <a:endParaRPr sz="950" b="1" i="0">
              <a:solidFill>
                <a:srgbClr val="0284C7"/>
              </a:solidFill>
            </a:endParaRPr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3968496"/>
            <a:ext cx="11795760" cy="25054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" y="54864"/>
            <a:ext cx="10058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AI DEEP DIVE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4592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AI Engine &amp; False Positive Intelligence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7665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64748B"/>
                </a:solidFill>
              </a:rPr>
              <a:t>10 / 15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28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624828"/>
            <a:ext cx="11823192" cy="20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DAST AI Framework  ·  Accenture Security  ·  2026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201168" y="1024128"/>
            <a:ext cx="5394960" cy="5431536"/>
          </a:xfrm>
          <a:prstGeom prst="ellipse">
            <a:avLst/>
          </a:prstGeom>
          <a:solidFill>
            <a:srgbClr val="F1F5F9"/>
          </a:solidFill>
          <a:ln w="19050">
            <a:solidFill>
              <a:srgbClr val="563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1168" y="1024128"/>
            <a:ext cx="5394960" cy="384048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1051560"/>
            <a:ext cx="5166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AI Enrichment Engine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74320" y="1554480"/>
            <a:ext cx="1115568" cy="548640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1554480"/>
            <a:ext cx="45720" cy="548640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1609344"/>
            <a:ext cx="1005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5634D4"/>
                </a:solidFill>
              </a:rPr>
              <a:t>Model</a:t>
            </a:r>
            <a:endParaRPr sz="850" b="1" i="0">
              <a:solidFill>
                <a:srgbClr val="5634D4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44752" y="1609344"/>
            <a:ext cx="40050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</a:rPr>
              <a:t>Ollama qwen2.5 — local LLM, zero data exfiltration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74320" y="2212848"/>
            <a:ext cx="1115568" cy="548640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2212848"/>
            <a:ext cx="45720" cy="548640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267712"/>
            <a:ext cx="1005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5634D4"/>
                </a:solidFill>
              </a:rPr>
              <a:t>Batch Size</a:t>
            </a:r>
            <a:endParaRPr sz="850" b="1" i="0">
              <a:solidFill>
                <a:srgbClr val="5634D4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444752" y="2267712"/>
            <a:ext cx="40050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</a:rPr>
              <a:t>8 findings per prompt — parallel async batches for speed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74320" y="2871215"/>
            <a:ext cx="1115568" cy="548640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2871215"/>
            <a:ext cx="45720" cy="548640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2926079"/>
            <a:ext cx="1005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5634D4"/>
                </a:solidFill>
              </a:rPr>
              <a:t>Prompt Cache</a:t>
            </a:r>
            <a:endParaRPr sz="850" b="1" i="0">
              <a:solidFill>
                <a:srgbClr val="5634D4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444752" y="2926079"/>
            <a:ext cx="40050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</a:rPr>
              <a:t>SHA-256 keyed — instant replay on re-runs (DB-backed)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74320" y="3529584"/>
            <a:ext cx="1115568" cy="548640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3529584"/>
            <a:ext cx="45720" cy="548640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584448"/>
            <a:ext cx="1005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5634D4"/>
                </a:solidFill>
              </a:rPr>
              <a:t>Enrichment</a:t>
            </a:r>
            <a:endParaRPr sz="850" b="1" i="0">
              <a:solidFill>
                <a:srgbClr val="5634D4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444752" y="3584448"/>
            <a:ext cx="40050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</a:rPr>
              <a:t>Severity re-score · OWASP mapping · Exploit scenario
Remediation steps · Risk narrative · Priority score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74320" y="4187952"/>
            <a:ext cx="1115568" cy="548640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4187952"/>
            <a:ext cx="45720" cy="548640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4242816"/>
            <a:ext cx="1005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5634D4"/>
                </a:solidFill>
              </a:rPr>
              <a:t>Auth Analysis</a:t>
            </a:r>
            <a:endParaRPr sz="850" b="1" i="0">
              <a:solidFill>
                <a:srgbClr val="5634D4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444752" y="4242816"/>
            <a:ext cx="40050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</a:rPr>
              <a:t>Parses auth.log — session health score · failure patterns
401/403 sequences · expiry detection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74320" y="4846320"/>
            <a:ext cx="1115568" cy="548640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74320" y="4846320"/>
            <a:ext cx="45720" cy="548640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901183"/>
            <a:ext cx="1005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5634D4"/>
                </a:solidFill>
              </a:rPr>
              <a:t>Accuracy</a:t>
            </a:r>
            <a:endParaRPr sz="850" b="1" i="0">
              <a:solidFill>
                <a:srgbClr val="5634D4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444752" y="4901183"/>
            <a:ext cx="40050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</a:rPr>
              <a:t>92%+ severity agreement vs original scanner (PILLAR 7)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39" name="Oval 38"/>
          <p:cNvSpPr/>
          <p:nvPr/>
        </p:nvSpPr>
        <p:spPr>
          <a:xfrm>
            <a:off x="5961888" y="1024128"/>
            <a:ext cx="6016752" cy="2651760"/>
          </a:xfrm>
          <a:prstGeom prst="ellipse">
            <a:avLst/>
          </a:prstGeom>
          <a:solidFill>
            <a:srgbClr val="F1F5F9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61888" y="1024128"/>
            <a:ext cx="6016752" cy="3840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08192" y="1051560"/>
            <a:ext cx="5779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FP Analysis Engine — Hybrid AI + Rule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053328" y="1517904"/>
            <a:ext cx="5833872" cy="987552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53328" y="1517904"/>
            <a:ext cx="50292" cy="9875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99632" y="1572768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6A34A"/>
                </a:solidFill>
              </a:rPr>
              <a:t>Phase 1 — AI Verdict  (always runs)</a:t>
            </a:r>
            <a:endParaRPr sz="950" b="1" i="0">
              <a:solidFill>
                <a:srgbClr val="16A34A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199632" y="1847088"/>
            <a:ext cx="5577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</a:rPr>
              <a:t>Every finding → LLM prompt → verdict:
True Positive · Likely FP · Needs Manual Review
+ Confidence % + Reason text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6053328" y="2615184"/>
            <a:ext cx="5833872" cy="987552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53328" y="2615184"/>
            <a:ext cx="50292" cy="9875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2" y="2670048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A580C"/>
                </a:solidFill>
              </a:rPr>
              <a:t>Phase 2 — Rule Tiebreaker  (low-confidence only)</a:t>
            </a:r>
            <a:endParaRPr sz="950" b="1" i="0">
              <a:solidFill>
                <a:srgbClr val="EA580C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199632" y="2944368"/>
            <a:ext cx="55778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</a:rPr>
              <a:t>Mass-fire ≥10 URLs → auto FP
Occurrence count ≥10 → auto FP
Nmap port closed → auto FP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50" name="Oval 49"/>
          <p:cNvSpPr/>
          <p:nvPr/>
        </p:nvSpPr>
        <p:spPr>
          <a:xfrm>
            <a:off x="5961888" y="3794760"/>
            <a:ext cx="6016752" cy="2651760"/>
          </a:xfrm>
          <a:prstGeom prst="ellipse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961888" y="3794760"/>
            <a:ext cx="6016752" cy="3291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3813048"/>
            <a:ext cx="5779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AI Accuracy vs Manual Reviews  (PILLAR 7)</a:t>
            </a:r>
            <a:endParaRPr sz="1000" b="1" i="0">
              <a:solidFill>
                <a:srgbClr val="FFFFFF"/>
              </a:solidFill>
            </a:endParaRPr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8464" y="4160520"/>
            <a:ext cx="5925312" cy="22311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" y="54864"/>
            <a:ext cx="10058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LIVE EVIDENCE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4592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Live Scan Results — Real Vulnerability Intelligence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7665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64748B"/>
                </a:solidFill>
              </a:rPr>
              <a:t>11 / 15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28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624828"/>
            <a:ext cx="11823192" cy="20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DAST AI Framework  ·  Accenture Security  ·  2026 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164592" y="1024128"/>
            <a:ext cx="11859768" cy="310896"/>
          </a:xfrm>
          <a:prstGeom prst="ellipse">
            <a:avLst/>
          </a:prstGeom>
          <a:solidFill>
            <a:srgbClr val="F1F5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4592" y="1024128"/>
            <a:ext cx="50292" cy="31089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1042415"/>
            <a:ext cx="11658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284C7"/>
                </a:solidFill>
              </a:rPr>
              <a:t>Real scan  ·  Appname_Testasp  ·  Target: http://testasp.vulnweb.com/  ·  Auth: HAR — SUCCESS  ·  Date: 2026-04-26</a:t>
            </a:r>
            <a:endParaRPr sz="850" b="0" i="0">
              <a:solidFill>
                <a:srgbClr val="0284C7"/>
              </a:solidFill>
            </a:endParaRPr>
          </a:p>
        </p:txBody>
      </p:sp>
      <p:sp>
        <p:nvSpPr>
          <p:cNvPr id="15" name="Oval 14"/>
          <p:cNvSpPr/>
          <p:nvPr/>
        </p:nvSpPr>
        <p:spPr>
          <a:xfrm>
            <a:off x="164592" y="1426464"/>
            <a:ext cx="1901952" cy="786384"/>
          </a:xfrm>
          <a:prstGeom prst="ellipse">
            <a:avLst/>
          </a:prstGeom>
          <a:solidFill>
            <a:srgbClr val="F1F5F9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4592" y="1426464"/>
            <a:ext cx="1901952" cy="5943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1" y="1536192"/>
            <a:ext cx="1810512" cy="408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DC2626"/>
                </a:solidFill>
              </a:rPr>
              <a:t>1</a:t>
            </a:r>
            <a:endParaRPr sz="2600" b="1" i="0">
              <a:solidFill>
                <a:srgbClr val="DC2626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10311" y="1882566"/>
            <a:ext cx="1810512" cy="298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E293B"/>
                </a:solidFill>
              </a:rPr>
              <a:t>Critical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19" name="Oval 18"/>
          <p:cNvSpPr/>
          <p:nvPr/>
        </p:nvSpPr>
        <p:spPr>
          <a:xfrm>
            <a:off x="2157984" y="1426464"/>
            <a:ext cx="1901952" cy="786384"/>
          </a:xfrm>
          <a:prstGeom prst="ellipse">
            <a:avLst/>
          </a:prstGeom>
          <a:solidFill>
            <a:srgbClr val="F1F5F9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7984" y="1426464"/>
            <a:ext cx="1901952" cy="5943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03704" y="1536192"/>
            <a:ext cx="1810512" cy="408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A580C"/>
                </a:solidFill>
              </a:rPr>
              <a:t>3</a:t>
            </a:r>
            <a:endParaRPr sz="2600" b="1" i="0">
              <a:solidFill>
                <a:srgbClr val="EA580C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203704" y="1882566"/>
            <a:ext cx="1810512" cy="298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E293B"/>
                </a:solidFill>
              </a:rPr>
              <a:t>High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23" name="Oval 22"/>
          <p:cNvSpPr/>
          <p:nvPr/>
        </p:nvSpPr>
        <p:spPr>
          <a:xfrm>
            <a:off x="4151376" y="1426464"/>
            <a:ext cx="1901952" cy="786384"/>
          </a:xfrm>
          <a:prstGeom prst="ellipse">
            <a:avLst/>
          </a:prstGeom>
          <a:solidFill>
            <a:srgbClr val="F1F5F9"/>
          </a:solidFill>
          <a:ln w="19050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51376" y="1426464"/>
            <a:ext cx="1901952" cy="59436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97096" y="1536192"/>
            <a:ext cx="1810512" cy="408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A8A04"/>
                </a:solidFill>
              </a:rPr>
              <a:t>14</a:t>
            </a:r>
            <a:endParaRPr sz="2600" b="1" i="0">
              <a:solidFill>
                <a:srgbClr val="CA8A04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197096" y="1882566"/>
            <a:ext cx="1810512" cy="298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E293B"/>
                </a:solidFill>
              </a:rPr>
              <a:t>Medium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27" name="Oval 26"/>
          <p:cNvSpPr/>
          <p:nvPr/>
        </p:nvSpPr>
        <p:spPr>
          <a:xfrm>
            <a:off x="6144768" y="1426464"/>
            <a:ext cx="1901952" cy="786384"/>
          </a:xfrm>
          <a:prstGeom prst="ellipse">
            <a:avLst/>
          </a:prstGeom>
          <a:solidFill>
            <a:srgbClr val="F1F5F9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426464"/>
            <a:ext cx="1901952" cy="594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0488" y="1536192"/>
            <a:ext cx="1810512" cy="408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6A34A"/>
                </a:solidFill>
              </a:rPr>
              <a:t>20</a:t>
            </a:r>
            <a:endParaRPr sz="2600" b="1" i="0">
              <a:solidFill>
                <a:srgbClr val="16A34A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190488" y="1882566"/>
            <a:ext cx="1810512" cy="298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E293B"/>
                </a:solidFill>
              </a:rPr>
              <a:t>Low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31" name="Oval 30"/>
          <p:cNvSpPr/>
          <p:nvPr/>
        </p:nvSpPr>
        <p:spPr>
          <a:xfrm>
            <a:off x="8138160" y="1426464"/>
            <a:ext cx="1901952" cy="786384"/>
          </a:xfrm>
          <a:prstGeom prst="ellipse">
            <a:avLst/>
          </a:prstGeom>
          <a:solidFill>
            <a:srgbClr val="F1F5F9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38160" y="1426464"/>
            <a:ext cx="1901952" cy="5943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1536192"/>
            <a:ext cx="1810512" cy="408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284C7"/>
                </a:solidFill>
              </a:rPr>
              <a:t>2</a:t>
            </a:r>
            <a:endParaRPr sz="2600" b="1" i="0">
              <a:solidFill>
                <a:srgbClr val="0284C7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183880" y="1882566"/>
            <a:ext cx="1810512" cy="298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E293B"/>
                </a:solidFill>
              </a:rPr>
              <a:t>Info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35" name="Oval 34"/>
          <p:cNvSpPr/>
          <p:nvPr/>
        </p:nvSpPr>
        <p:spPr>
          <a:xfrm>
            <a:off x="10131552" y="1426464"/>
            <a:ext cx="1901952" cy="786384"/>
          </a:xfrm>
          <a:prstGeom prst="ellipse">
            <a:avLst/>
          </a:prstGeom>
          <a:solidFill>
            <a:srgbClr val="F1F5F9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131552" y="1426464"/>
            <a:ext cx="1901952" cy="5943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77272" y="1536192"/>
            <a:ext cx="1810512" cy="408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64748B"/>
                </a:solidFill>
              </a:rPr>
              <a:t>20</a:t>
            </a:r>
            <a:endParaRPr sz="2600" b="1" i="0">
              <a:solidFill>
                <a:srgbClr val="64748B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177272" y="1882566"/>
            <a:ext cx="1810512" cy="298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1E293B"/>
                </a:solidFill>
              </a:rPr>
              <a:t>FP Dismissed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64592" y="2331720"/>
            <a:ext cx="7607808" cy="27432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64592" y="2331720"/>
            <a:ext cx="50292" cy="2743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032" y="2350008"/>
            <a:ext cx="7406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284C7"/>
                </a:solidFill>
              </a:rPr>
              <a:t>TOP FINDINGS</a:t>
            </a:r>
            <a:endParaRPr sz="850" b="1" i="0">
              <a:solidFill>
                <a:srgbClr val="0284C7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164592" y="2633472"/>
            <a:ext cx="274320" cy="237744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2879" y="2642616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284C7"/>
                </a:solidFill>
              </a:rPr>
              <a:t>SEV</a:t>
            </a:r>
            <a:endParaRPr sz="750" b="1" i="0">
              <a:solidFill>
                <a:srgbClr val="0284C7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57200" y="2633472"/>
            <a:ext cx="493776" cy="237744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264261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284C7"/>
                </a:solidFill>
              </a:rPr>
              <a:t>#</a:t>
            </a:r>
            <a:endParaRPr sz="750" b="1" i="0">
              <a:solidFill>
                <a:srgbClr val="0284C7"/>
              </a:solidFill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969264" y="2633472"/>
            <a:ext cx="4645152" cy="237744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2642616"/>
            <a:ext cx="46085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284C7"/>
                </a:solidFill>
              </a:rPr>
              <a:t>Vulnerability Name</a:t>
            </a:r>
            <a:endParaRPr sz="750" b="1" i="0">
              <a:solidFill>
                <a:srgbClr val="0284C7"/>
              </a:solidFill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5650992" y="2633472"/>
            <a:ext cx="1426464" cy="237744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79" y="2642616"/>
            <a:ext cx="1389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284C7"/>
                </a:solidFill>
              </a:rPr>
              <a:t>OWASP Category</a:t>
            </a:r>
            <a:endParaRPr sz="750" b="1" i="0">
              <a:solidFill>
                <a:srgbClr val="0284C7"/>
              </a:solidFill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7114032" y="2633472"/>
            <a:ext cx="658368" cy="237744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0" y="2642616"/>
            <a:ext cx="6217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284C7"/>
                </a:solidFill>
              </a:rPr>
              <a:t>FP Status</a:t>
            </a:r>
            <a:endParaRPr sz="750" b="1" i="0">
              <a:solidFill>
                <a:srgbClr val="0284C7"/>
              </a:solidFill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164592" y="2889504"/>
            <a:ext cx="7607808" cy="310896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2880" y="2944368"/>
            <a:ext cx="246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DC2626"/>
                </a:solidFill>
              </a:rPr>
              <a:t>HIGH</a:t>
            </a:r>
            <a:endParaRPr sz="650" b="1" i="0">
              <a:solidFill>
                <a:srgbClr val="DC2626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66344" y="2944368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1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69264" y="2944368"/>
            <a:ext cx="46268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E293B"/>
                </a:solidFill>
              </a:rPr>
              <a:t>Path Traversal</a:t>
            </a:r>
            <a:endParaRPr sz="750" b="0" i="0">
              <a:solidFill>
                <a:srgbClr val="1E293B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650992" y="2944368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E293B"/>
                </a:solidFill>
              </a:rPr>
              <a:t>A03 Injection</a:t>
            </a:r>
            <a:endParaRPr sz="700" b="0" i="0">
              <a:solidFill>
                <a:srgbClr val="1E293B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114032" y="2944368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—</a:t>
            </a:r>
            <a:endParaRPr sz="700" b="0" i="0">
              <a:solidFill>
                <a:srgbClr val="64748B"/>
              </a:solidFill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164592" y="3223260"/>
            <a:ext cx="7607808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2880" y="3278124"/>
            <a:ext cx="246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CA8A04"/>
                </a:solidFill>
              </a:rPr>
              <a:t>MED</a:t>
            </a:r>
            <a:endParaRPr sz="650" b="1" i="0">
              <a:solidFill>
                <a:srgbClr val="CA8A04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466344" y="3278124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2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969264" y="3278124"/>
            <a:ext cx="46268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E293B"/>
                </a:solidFill>
              </a:rPr>
              <a:t>CSP Header Not Set</a:t>
            </a:r>
            <a:endParaRPr sz="750" b="0" i="0">
              <a:solidFill>
                <a:srgbClr val="1E293B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5650992" y="3278124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E293B"/>
                </a:solidFill>
              </a:rPr>
              <a:t>A05 Sec Misconfiguration</a:t>
            </a:r>
            <a:endParaRPr sz="700" b="0" i="0">
              <a:solidFill>
                <a:srgbClr val="1E293B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114032" y="3278124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—</a:t>
            </a:r>
            <a:endParaRPr sz="700" b="0" i="0">
              <a:solidFill>
                <a:srgbClr val="64748B"/>
              </a:solidFill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164592" y="3557016"/>
            <a:ext cx="7607808" cy="310896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2880" y="3611880"/>
            <a:ext cx="246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CA8A04"/>
                </a:solidFill>
              </a:rPr>
              <a:t>MED</a:t>
            </a:r>
            <a:endParaRPr sz="650" b="1" i="0">
              <a:solidFill>
                <a:srgbClr val="CA8A04"/>
              </a:solidFill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466344" y="3611880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3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969264" y="3611880"/>
            <a:ext cx="46268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E293B"/>
                </a:solidFill>
              </a:rPr>
              <a:t>Missing Anti-clickjacking Header</a:t>
            </a:r>
            <a:endParaRPr sz="750" b="0" i="0">
              <a:solidFill>
                <a:srgbClr val="1E293B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650992" y="3611880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E293B"/>
                </a:solidFill>
              </a:rPr>
              <a:t>A01 Broken Access Control</a:t>
            </a:r>
            <a:endParaRPr sz="700" b="0" i="0">
              <a:solidFill>
                <a:srgbClr val="1E293B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114032" y="361188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DC2626"/>
                </a:solidFill>
              </a:rPr>
              <a:t>Likely FP</a:t>
            </a:r>
            <a:endParaRPr sz="700" b="1" i="0">
              <a:solidFill>
                <a:srgbClr val="DC2626"/>
              </a:solidFill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164592" y="3890772"/>
            <a:ext cx="7607808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2880" y="3945635"/>
            <a:ext cx="246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CA8A04"/>
                </a:solidFill>
              </a:rPr>
              <a:t>MED</a:t>
            </a:r>
            <a:endParaRPr sz="650" b="1" i="0">
              <a:solidFill>
                <a:srgbClr val="CA8A04"/>
              </a:solidFill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66344" y="3945635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4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969264" y="3945635"/>
            <a:ext cx="46268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E293B"/>
                </a:solidFill>
              </a:rPr>
              <a:t>CSP Header Not Set (Non-Auth)</a:t>
            </a:r>
            <a:endParaRPr sz="750" b="0" i="0">
              <a:solidFill>
                <a:srgbClr val="1E293B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5650992" y="3945635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E293B"/>
                </a:solidFill>
              </a:rPr>
              <a:t>A05 Sec Misconfiguration</a:t>
            </a:r>
            <a:endParaRPr sz="700" b="0" i="0">
              <a:solidFill>
                <a:srgbClr val="1E293B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114032" y="3945635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—</a:t>
            </a:r>
            <a:endParaRPr sz="700" b="0" i="0">
              <a:solidFill>
                <a:srgbClr val="64748B"/>
              </a:solidFill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164592" y="4224528"/>
            <a:ext cx="7607808" cy="310896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82880" y="4279392"/>
            <a:ext cx="246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CA8A04"/>
                </a:solidFill>
              </a:rPr>
              <a:t>MED</a:t>
            </a:r>
            <a:endParaRPr sz="650" b="1" i="0">
              <a:solidFill>
                <a:srgbClr val="CA8A04"/>
              </a:solidFill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66344" y="4279392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5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969264" y="4279392"/>
            <a:ext cx="46268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E293B"/>
                </a:solidFill>
              </a:rPr>
              <a:t>Absence of Anti-CSRF Tokens</a:t>
            </a:r>
            <a:endParaRPr sz="750" b="0" i="0">
              <a:solidFill>
                <a:srgbClr val="1E293B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650992" y="4279392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E293B"/>
                </a:solidFill>
              </a:rPr>
              <a:t>A01 Broken Access Control</a:t>
            </a:r>
            <a:endParaRPr sz="700" b="0" i="0">
              <a:solidFill>
                <a:srgbClr val="1E293B"/>
              </a:solidFill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7114032" y="427939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—</a:t>
            </a:r>
            <a:endParaRPr sz="700" b="0" i="0">
              <a:solidFill>
                <a:srgbClr val="64748B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164592" y="4558284"/>
            <a:ext cx="7607808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82880" y="4613148"/>
            <a:ext cx="246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CA8A04"/>
                </a:solidFill>
              </a:rPr>
              <a:t>MED</a:t>
            </a:r>
            <a:endParaRPr sz="650" b="1" i="0">
              <a:solidFill>
                <a:srgbClr val="CA8A04"/>
              </a:solidFill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466344" y="4613148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6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969264" y="4613148"/>
            <a:ext cx="46268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E293B"/>
                </a:solidFill>
              </a:rPr>
              <a:t>HTTP Only Site</a:t>
            </a:r>
            <a:endParaRPr sz="750" b="0" i="0">
              <a:solidFill>
                <a:srgbClr val="1E293B"/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5650992" y="4613148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E293B"/>
                </a:solidFill>
              </a:rPr>
              <a:t>N/A</a:t>
            </a:r>
            <a:endParaRPr sz="700" b="0" i="0">
              <a:solidFill>
                <a:srgbClr val="1E293B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7114032" y="4613148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—</a:t>
            </a:r>
            <a:endParaRPr sz="700" b="0" i="0">
              <a:solidFill>
                <a:srgbClr val="64748B"/>
              </a:solidFill>
            </a:endParaRPr>
          </a:p>
        </p:txBody>
      </p:sp>
      <p:sp>
        <p:nvSpPr>
          <p:cNvPr id="88" name="Rectangle 87"/>
          <p:cNvSpPr/>
          <p:nvPr/>
        </p:nvSpPr>
        <p:spPr>
          <a:xfrm>
            <a:off x="164592" y="4892040"/>
            <a:ext cx="7607808" cy="310896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82880" y="4946903"/>
            <a:ext cx="246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16A34A"/>
                </a:solidFill>
              </a:rPr>
              <a:t>LOW</a:t>
            </a:r>
            <a:endParaRPr sz="650" b="1" i="0">
              <a:solidFill>
                <a:srgbClr val="16A34A"/>
              </a:solidFill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466344" y="4946903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7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969264" y="4946903"/>
            <a:ext cx="46268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E293B"/>
                </a:solidFill>
              </a:rPr>
              <a:t>Cookie without SameSite Attribute</a:t>
            </a:r>
            <a:endParaRPr sz="750" b="0" i="0">
              <a:solidFill>
                <a:srgbClr val="1E293B"/>
              </a:solidFill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5650992" y="4946903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E293B"/>
                </a:solidFill>
              </a:rPr>
              <a:t>A07 Auth Failures</a:t>
            </a:r>
            <a:endParaRPr sz="700" b="0" i="0">
              <a:solidFill>
                <a:srgbClr val="1E293B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7114032" y="4946903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—</a:t>
            </a:r>
            <a:endParaRPr sz="700" b="0" i="0">
              <a:solidFill>
                <a:srgbClr val="64748B"/>
              </a:solidFill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164592" y="5225796"/>
            <a:ext cx="7607808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82880" y="5280659"/>
            <a:ext cx="246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16A34A"/>
                </a:solidFill>
              </a:rPr>
              <a:t>LOW</a:t>
            </a:r>
            <a:endParaRPr sz="650" b="1" i="0">
              <a:solidFill>
                <a:srgbClr val="16A34A"/>
              </a:solidFill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466344" y="5280659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8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969264" y="5280659"/>
            <a:ext cx="46268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E293B"/>
                </a:solidFill>
              </a:rPr>
              <a:t>Server Leaks Version (Server header)</a:t>
            </a:r>
            <a:endParaRPr sz="750" b="0" i="0">
              <a:solidFill>
                <a:srgbClr val="1E293B"/>
              </a:solidFill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5650992" y="5280659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E293B"/>
                </a:solidFill>
              </a:rPr>
              <a:t>A07 Auth Failures</a:t>
            </a:r>
            <a:endParaRPr sz="700" b="0" i="0">
              <a:solidFill>
                <a:srgbClr val="1E293B"/>
              </a:solidFill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7114032" y="5280659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—</a:t>
            </a:r>
            <a:endParaRPr sz="700" b="0" i="0">
              <a:solidFill>
                <a:srgbClr val="64748B"/>
              </a:solidFill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164592" y="5559552"/>
            <a:ext cx="7607808" cy="310896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82880" y="5614416"/>
            <a:ext cx="246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16A34A"/>
                </a:solidFill>
              </a:rPr>
              <a:t>LOW</a:t>
            </a:r>
            <a:endParaRPr sz="650" b="1" i="0">
              <a:solidFill>
                <a:srgbClr val="16A34A"/>
              </a:solidFill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466344" y="5614416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9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969264" y="5614416"/>
            <a:ext cx="46268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E293B"/>
                </a:solidFill>
              </a:rPr>
              <a:t>X-Content-Type-Options Header Missing</a:t>
            </a:r>
            <a:endParaRPr sz="750" b="0" i="0">
              <a:solidFill>
                <a:srgbClr val="1E293B"/>
              </a:solidFill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5650992" y="5614416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E293B"/>
                </a:solidFill>
              </a:rPr>
              <a:t>A02 Crypto Failures</a:t>
            </a:r>
            <a:endParaRPr sz="700" b="0" i="0">
              <a:solidFill>
                <a:srgbClr val="1E293B"/>
              </a:solidFill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7114032" y="5614416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16A34A"/>
                </a:solidFill>
              </a:rPr>
              <a:t>True Positive</a:t>
            </a:r>
            <a:endParaRPr sz="700" b="1" i="0">
              <a:solidFill>
                <a:srgbClr val="16A34A"/>
              </a:solidFill>
            </a:endParaRPr>
          </a:p>
        </p:txBody>
      </p:sp>
      <p:sp>
        <p:nvSpPr>
          <p:cNvPr id="106" name="Rectangle 105"/>
          <p:cNvSpPr/>
          <p:nvPr/>
        </p:nvSpPr>
        <p:spPr>
          <a:xfrm>
            <a:off x="164592" y="5893308"/>
            <a:ext cx="7607808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82880" y="5948172"/>
            <a:ext cx="2468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16A34A"/>
                </a:solidFill>
              </a:rPr>
              <a:t>LOW</a:t>
            </a:r>
            <a:endParaRPr sz="650" b="1" i="0">
              <a:solidFill>
                <a:srgbClr val="16A34A"/>
              </a:solidFill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466344" y="5948172"/>
            <a:ext cx="475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</a:rPr>
              <a:t>10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969264" y="5948172"/>
            <a:ext cx="46268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E293B"/>
                </a:solidFill>
              </a:rPr>
              <a:t>Cookie No HttpOnly Flag</a:t>
            </a:r>
            <a:endParaRPr sz="750" b="0" i="0">
              <a:solidFill>
                <a:srgbClr val="1E293B"/>
              </a:solidFill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5650992" y="5948172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E293B"/>
                </a:solidFill>
              </a:rPr>
              <a:t>A07 Auth Failures</a:t>
            </a:r>
            <a:endParaRPr sz="700" b="0" i="0">
              <a:solidFill>
                <a:srgbClr val="1E293B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7114032" y="5948172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</a:rPr>
              <a:t>—</a:t>
            </a:r>
            <a:endParaRPr sz="700" b="0" i="0">
              <a:solidFill>
                <a:srgbClr val="64748B"/>
              </a:solidFill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7936992" y="2331720"/>
            <a:ext cx="4087368" cy="27432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936992" y="2331720"/>
            <a:ext cx="50292" cy="2743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028431" y="2350008"/>
            <a:ext cx="39044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C2626"/>
                </a:solidFill>
              </a:rPr>
              <a:t>OWASP Mapping</a:t>
            </a:r>
            <a:endParaRPr sz="850" b="1" i="0">
              <a:solidFill>
                <a:srgbClr val="DC2626"/>
              </a:solidFill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7936992" y="2651760"/>
            <a:ext cx="4087368" cy="36576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991856" y="2715768"/>
            <a:ext cx="384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C2626"/>
                </a:solidFill>
              </a:rPr>
              <a:t>A01</a:t>
            </a:r>
            <a:endParaRPr sz="750" b="1" i="0">
              <a:solidFill>
                <a:srgbClr val="DC2626"/>
              </a:solidFill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8412480" y="27157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E293B"/>
                </a:solidFill>
              </a:rPr>
              <a:t>Broken Access Control</a:t>
            </a:r>
            <a:endParaRPr sz="750" b="0" i="0">
              <a:solidFill>
                <a:srgbClr val="1E293B"/>
              </a:solidFill>
            </a:endParaRPr>
          </a:p>
        </p:txBody>
      </p:sp>
      <p:sp>
        <p:nvSpPr>
          <p:cNvPr id="118" name="Rectangle 117"/>
          <p:cNvSpPr/>
          <p:nvPr/>
        </p:nvSpPr>
        <p:spPr>
          <a:xfrm>
            <a:off x="10725912" y="2743200"/>
            <a:ext cx="585216" cy="1828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1347704" y="2724912"/>
            <a:ext cx="2926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C2626"/>
                </a:solidFill>
              </a:rPr>
              <a:t>3</a:t>
            </a:r>
            <a:endParaRPr sz="750" b="1" i="0">
              <a:solidFill>
                <a:srgbClr val="DC2626"/>
              </a:solidFill>
            </a:endParaRPr>
          </a:p>
        </p:txBody>
      </p:sp>
      <p:sp>
        <p:nvSpPr>
          <p:cNvPr id="120" name="Rectangle 119"/>
          <p:cNvSpPr/>
          <p:nvPr/>
        </p:nvSpPr>
        <p:spPr>
          <a:xfrm>
            <a:off x="7936992" y="3054096"/>
            <a:ext cx="4087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991856" y="3118103"/>
            <a:ext cx="384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C2626"/>
                </a:solidFill>
              </a:rPr>
              <a:t>A02</a:t>
            </a:r>
            <a:endParaRPr sz="750" b="1" i="0">
              <a:solidFill>
                <a:srgbClr val="DC2626"/>
              </a:solidFill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8412480" y="3118103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E293B"/>
                </a:solidFill>
              </a:rPr>
              <a:t>Cryptographic Failures</a:t>
            </a:r>
            <a:endParaRPr sz="750" b="0" i="0">
              <a:solidFill>
                <a:srgbClr val="1E293B"/>
              </a:solidFill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10725912" y="3145536"/>
            <a:ext cx="195072" cy="1828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957560" y="3127248"/>
            <a:ext cx="2926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C2626"/>
                </a:solidFill>
              </a:rPr>
              <a:t>1</a:t>
            </a:r>
            <a:endParaRPr sz="750" b="1" i="0">
              <a:solidFill>
                <a:srgbClr val="DC2626"/>
              </a:solidFill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7936992" y="3456432"/>
            <a:ext cx="4087368" cy="36576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991856" y="3520439"/>
            <a:ext cx="384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C2626"/>
                </a:solidFill>
              </a:rPr>
              <a:t>A03</a:t>
            </a:r>
            <a:endParaRPr sz="750" b="1" i="0">
              <a:solidFill>
                <a:srgbClr val="DC2626"/>
              </a:solidFill>
            </a:endParaRPr>
          </a:p>
        </p:txBody>
      </p:sp>
      <p:sp>
        <p:nvSpPr>
          <p:cNvPr id="127" name="TextBox 126"/>
          <p:cNvSpPr txBox="1"/>
          <p:nvPr/>
        </p:nvSpPr>
        <p:spPr>
          <a:xfrm>
            <a:off x="8412480" y="3520439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E293B"/>
                </a:solidFill>
              </a:rPr>
              <a:t>Injection</a:t>
            </a:r>
            <a:endParaRPr sz="750" b="0" i="0">
              <a:solidFill>
                <a:srgbClr val="1E293B"/>
              </a:solidFill>
            </a:endParaRPr>
          </a:p>
        </p:txBody>
      </p:sp>
      <p:sp>
        <p:nvSpPr>
          <p:cNvPr id="128" name="Rectangle 127"/>
          <p:cNvSpPr/>
          <p:nvPr/>
        </p:nvSpPr>
        <p:spPr>
          <a:xfrm>
            <a:off x="10725912" y="3547872"/>
            <a:ext cx="195072" cy="1828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957560" y="3529584"/>
            <a:ext cx="2926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C2626"/>
                </a:solidFill>
              </a:rPr>
              <a:t>1</a:t>
            </a:r>
            <a:endParaRPr sz="750" b="1" i="0">
              <a:solidFill>
                <a:srgbClr val="DC2626"/>
              </a:solidFill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7936992" y="3858768"/>
            <a:ext cx="4087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991856" y="3922776"/>
            <a:ext cx="384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C2626"/>
                </a:solidFill>
              </a:rPr>
              <a:t>A05</a:t>
            </a:r>
            <a:endParaRPr sz="750" b="1" i="0">
              <a:solidFill>
                <a:srgbClr val="DC2626"/>
              </a:solidFill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8412480" y="392277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E293B"/>
                </a:solidFill>
              </a:rPr>
              <a:t>Security Misconfiguration</a:t>
            </a:r>
            <a:endParaRPr sz="750" b="0" i="0">
              <a:solidFill>
                <a:srgbClr val="1E293B"/>
              </a:solidFill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10725912" y="3950207"/>
            <a:ext cx="1170432" cy="1828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932919" y="3931920"/>
            <a:ext cx="2926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C2626"/>
                </a:solidFill>
              </a:rPr>
              <a:t>6</a:t>
            </a:r>
            <a:endParaRPr sz="750" b="1" i="0">
              <a:solidFill>
                <a:srgbClr val="DC2626"/>
              </a:solidFill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7936992" y="4261104"/>
            <a:ext cx="4087368" cy="36576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991856" y="4325112"/>
            <a:ext cx="384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C2626"/>
                </a:solidFill>
              </a:rPr>
              <a:t>A07</a:t>
            </a:r>
            <a:endParaRPr sz="750" b="1" i="0">
              <a:solidFill>
                <a:srgbClr val="DC2626"/>
              </a:solidFill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8412480" y="4325112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E293B"/>
                </a:solidFill>
              </a:rPr>
              <a:t>Auth &amp; Session Failures</a:t>
            </a:r>
            <a:endParaRPr sz="750" b="0" i="0">
              <a:solidFill>
                <a:srgbClr val="1E293B"/>
              </a:solidFill>
            </a:endParaRPr>
          </a:p>
        </p:txBody>
      </p:sp>
      <p:sp>
        <p:nvSpPr>
          <p:cNvPr id="138" name="Rectangle 137"/>
          <p:cNvSpPr/>
          <p:nvPr/>
        </p:nvSpPr>
        <p:spPr>
          <a:xfrm>
            <a:off x="10725912" y="4352544"/>
            <a:ext cx="1170432" cy="1828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1932919" y="4334256"/>
            <a:ext cx="2926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DC2626"/>
                </a:solidFill>
              </a:rPr>
              <a:t>6</a:t>
            </a:r>
            <a:endParaRPr sz="750" b="1" i="0">
              <a:solidFill>
                <a:srgbClr val="DC2626"/>
              </a:solidFill>
            </a:endParaRPr>
          </a:p>
        </p:txBody>
      </p:sp>
      <p:sp>
        <p:nvSpPr>
          <p:cNvPr id="140" name="Rectangle 139"/>
          <p:cNvSpPr/>
          <p:nvPr/>
        </p:nvSpPr>
        <p:spPr>
          <a:xfrm>
            <a:off x="7936992" y="4700016"/>
            <a:ext cx="4087368" cy="27432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7936992" y="4700016"/>
            <a:ext cx="50292" cy="274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028431" y="4754879"/>
            <a:ext cx="39044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6A34A"/>
                </a:solidFill>
              </a:rPr>
              <a:t>AI False Positive Analysis</a:t>
            </a:r>
            <a:endParaRPr sz="850" b="1" i="0">
              <a:solidFill>
                <a:srgbClr val="16A34A"/>
              </a:solidFill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7936992" y="5029200"/>
            <a:ext cx="4087368" cy="347472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028431" y="508406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Total Findings Analysed</a:t>
            </a:r>
            <a:endParaRPr sz="800" b="0" i="0">
              <a:solidFill>
                <a:srgbClr val="1E293B"/>
              </a:solidFill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11183112" y="5084064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E293B"/>
                </a:solidFill>
              </a:rPr>
              <a:t>34</a:t>
            </a:r>
            <a:endParaRPr sz="950" b="1" i="0">
              <a:solidFill>
                <a:srgbClr val="1E293B"/>
              </a:solidFill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7936992" y="5394960"/>
            <a:ext cx="408736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028431" y="54498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True Positives</a:t>
            </a:r>
            <a:endParaRPr sz="800" b="0" i="0">
              <a:solidFill>
                <a:srgbClr val="1E293B"/>
              </a:solidFill>
            </a:endParaRPr>
          </a:p>
        </p:txBody>
      </p:sp>
      <p:sp>
        <p:nvSpPr>
          <p:cNvPr id="148" name="TextBox 147"/>
          <p:cNvSpPr txBox="1"/>
          <p:nvPr/>
        </p:nvSpPr>
        <p:spPr>
          <a:xfrm>
            <a:off x="11183112" y="5449824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DC2626"/>
                </a:solidFill>
              </a:rPr>
              <a:t>9</a:t>
            </a:r>
            <a:endParaRPr sz="950" b="1" i="0">
              <a:solidFill>
                <a:srgbClr val="DC2626"/>
              </a:solidFill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7936992" y="5760720"/>
            <a:ext cx="4087368" cy="347472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028431" y="5815583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Likely False Positives</a:t>
            </a:r>
            <a:endParaRPr sz="800" b="0" i="0">
              <a:solidFill>
                <a:srgbClr val="1E293B"/>
              </a:solidFill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11183112" y="5815583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6A34A"/>
                </a:solidFill>
              </a:rPr>
              <a:t>20</a:t>
            </a:r>
            <a:endParaRPr sz="950" b="1" i="0">
              <a:solidFill>
                <a:srgbClr val="16A34A"/>
              </a:solidFill>
            </a:endParaRPr>
          </a:p>
        </p:txBody>
      </p:sp>
      <p:sp>
        <p:nvSpPr>
          <p:cNvPr id="152" name="Rectangle 151"/>
          <p:cNvSpPr/>
          <p:nvPr/>
        </p:nvSpPr>
        <p:spPr>
          <a:xfrm>
            <a:off x="7936992" y="6126480"/>
            <a:ext cx="408736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028431" y="618134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Needs Manual Review</a:t>
            </a:r>
            <a:endParaRPr sz="800" b="0" i="0">
              <a:solidFill>
                <a:srgbClr val="1E293B"/>
              </a:solidFill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1183112" y="6181344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A580C"/>
                </a:solidFill>
              </a:rPr>
              <a:t>5</a:t>
            </a:r>
            <a:endParaRPr sz="950" b="1" i="0">
              <a:solidFill>
                <a:srgbClr val="EA580C"/>
              </a:solidFill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7936992" y="6492240"/>
            <a:ext cx="4087368" cy="347472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8028431" y="6547103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Noise Reduction</a:t>
            </a:r>
            <a:endParaRPr sz="800" b="0" i="0">
              <a:solidFill>
                <a:srgbClr val="1E293B"/>
              </a:solidFill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11183112" y="6547103"/>
            <a:ext cx="804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284C7"/>
                </a:solidFill>
              </a:rPr>
              <a:t>58.8%</a:t>
            </a:r>
            <a:endParaRPr sz="950" b="1" i="0">
              <a:solidFill>
                <a:srgbClr val="0284C7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" y="54864"/>
            <a:ext cx="10058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TECHNICAL ARCHITECTURE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4592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System Architecture &amp; Setup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7665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64748B"/>
                </a:solidFill>
              </a:rPr>
              <a:t>12 / 15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28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624828"/>
            <a:ext cx="11823192" cy="20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DAST AI Framework  ·  Accenture Security  ·  2026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64592" y="1024128"/>
            <a:ext cx="82296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4592" y="1024128"/>
            <a:ext cx="54864" cy="9601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104241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TIER 1 — ORCHESTRATION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15" name="Oval 14"/>
          <p:cNvSpPr/>
          <p:nvPr/>
        </p:nvSpPr>
        <p:spPr>
          <a:xfrm>
            <a:off x="754380" y="1316736"/>
            <a:ext cx="1417320" cy="576072"/>
          </a:xfrm>
          <a:prstGeom prst="ellipse">
            <a:avLst/>
          </a:prstGeom>
          <a:solidFill>
            <a:srgbClr val="F1F5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4380" y="1316736"/>
            <a:ext cx="1417320" cy="20116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2" y="1325880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Orchestrator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90956" y="1545336"/>
            <a:ext cx="13441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main.py</a:t>
            </a:r>
            <a:endParaRPr sz="680" b="0" i="0">
              <a:solidFill>
                <a:srgbClr val="1E293B"/>
              </a:solidFill>
            </a:endParaRPr>
          </a:p>
        </p:txBody>
      </p:sp>
      <p:sp>
        <p:nvSpPr>
          <p:cNvPr id="19" name="Oval 18"/>
          <p:cNvSpPr/>
          <p:nvPr/>
        </p:nvSpPr>
        <p:spPr>
          <a:xfrm>
            <a:off x="2948940" y="1316736"/>
            <a:ext cx="1417320" cy="576072"/>
          </a:xfrm>
          <a:prstGeom prst="ellipse">
            <a:avLst/>
          </a:prstGeom>
          <a:solidFill>
            <a:srgbClr val="F1F5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48940" y="1316736"/>
            <a:ext cx="1417320" cy="20116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6372" y="1325880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Profiles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985516" y="1545336"/>
            <a:ext cx="13441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profiles/
myapp.json</a:t>
            </a:r>
            <a:endParaRPr sz="680" b="0" i="0">
              <a:solidFill>
                <a:srgbClr val="1E293B"/>
              </a:solidFill>
            </a:endParaRPr>
          </a:p>
        </p:txBody>
      </p:sp>
      <p:sp>
        <p:nvSpPr>
          <p:cNvPr id="23" name="Oval 22"/>
          <p:cNvSpPr/>
          <p:nvPr/>
        </p:nvSpPr>
        <p:spPr>
          <a:xfrm>
            <a:off x="5143500" y="1316736"/>
            <a:ext cx="1417320" cy="576072"/>
          </a:xfrm>
          <a:prstGeom prst="ellipse">
            <a:avLst/>
          </a:prstGeom>
          <a:solidFill>
            <a:srgbClr val="F1F5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43500" y="1316736"/>
            <a:ext cx="1417320" cy="20116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70932" y="1325880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Config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180076" y="1545336"/>
            <a:ext cx="13441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config.txt</a:t>
            </a:r>
            <a:endParaRPr sz="680" b="0" i="0">
              <a:solidFill>
                <a:srgbClr val="1E293B"/>
              </a:solidFill>
            </a:endParaRPr>
          </a:p>
        </p:txBody>
      </p:sp>
      <p:sp>
        <p:nvSpPr>
          <p:cNvPr id="27" name="Oval 26"/>
          <p:cNvSpPr/>
          <p:nvPr/>
        </p:nvSpPr>
        <p:spPr>
          <a:xfrm>
            <a:off x="6606540" y="1316736"/>
            <a:ext cx="1417320" cy="576072"/>
          </a:xfrm>
          <a:prstGeom prst="ellipse">
            <a:avLst/>
          </a:prstGeom>
          <a:solidFill>
            <a:srgbClr val="F1F5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06540" y="1316736"/>
            <a:ext cx="1417320" cy="20116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3972" y="1325880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Auth Handler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643116" y="1545336"/>
            <a:ext cx="13441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Strategy
selection</a:t>
            </a:r>
            <a:endParaRPr sz="680" b="0" i="0">
              <a:solidFill>
                <a:srgbClr val="1E293B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64592" y="2029968"/>
            <a:ext cx="82296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2029968"/>
            <a:ext cx="54864" cy="96012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204825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891B2"/>
                </a:solidFill>
              </a:rPr>
              <a:t>TIER 2 — AUTH &amp; SESSION</a:t>
            </a:r>
            <a:endParaRPr sz="800" b="1" i="0">
              <a:solidFill>
                <a:srgbClr val="0891B2"/>
              </a:solidFill>
            </a:endParaRPr>
          </a:p>
        </p:txBody>
      </p:sp>
      <p:sp>
        <p:nvSpPr>
          <p:cNvPr id="34" name="Oval 33"/>
          <p:cNvSpPr/>
          <p:nvPr/>
        </p:nvSpPr>
        <p:spPr>
          <a:xfrm>
            <a:off x="754380" y="2322576"/>
            <a:ext cx="1417320" cy="576072"/>
          </a:xfrm>
          <a:prstGeom prst="ellipse">
            <a:avLst/>
          </a:prstGeom>
          <a:solidFill>
            <a:srgbClr val="F1F5F9"/>
          </a:solidFill>
          <a:ln w="1270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54380" y="2322576"/>
            <a:ext cx="1417320" cy="20116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1812" y="2331720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HAR Replay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90956" y="2551176"/>
            <a:ext cx="13441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Browser session
replay</a:t>
            </a:r>
            <a:endParaRPr sz="680" b="0" i="0">
              <a:solidFill>
                <a:srgbClr val="1E293B"/>
              </a:solidFill>
            </a:endParaRPr>
          </a:p>
        </p:txBody>
      </p:sp>
      <p:sp>
        <p:nvSpPr>
          <p:cNvPr id="38" name="Oval 37"/>
          <p:cNvSpPr/>
          <p:nvPr/>
        </p:nvSpPr>
        <p:spPr>
          <a:xfrm>
            <a:off x="2948940" y="2322576"/>
            <a:ext cx="1417320" cy="576072"/>
          </a:xfrm>
          <a:prstGeom prst="ellipse">
            <a:avLst/>
          </a:prstGeom>
          <a:solidFill>
            <a:srgbClr val="F1F5F9"/>
          </a:solidFill>
          <a:ln w="1270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48940" y="2322576"/>
            <a:ext cx="1417320" cy="20116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6372" y="2331720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Form Auth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985516" y="2551176"/>
            <a:ext cx="13441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POST login
+ verify</a:t>
            </a:r>
            <a:endParaRPr sz="680" b="0" i="0">
              <a:solidFill>
                <a:srgbClr val="1E293B"/>
              </a:solidFill>
            </a:endParaRPr>
          </a:p>
        </p:txBody>
      </p:sp>
      <p:sp>
        <p:nvSpPr>
          <p:cNvPr id="42" name="Oval 41"/>
          <p:cNvSpPr/>
          <p:nvPr/>
        </p:nvSpPr>
        <p:spPr>
          <a:xfrm>
            <a:off x="5143500" y="2322576"/>
            <a:ext cx="1417320" cy="576072"/>
          </a:xfrm>
          <a:prstGeom prst="ellipse">
            <a:avLst/>
          </a:prstGeom>
          <a:solidFill>
            <a:srgbClr val="F1F5F9"/>
          </a:solidFill>
          <a:ln w="1270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43500" y="2322576"/>
            <a:ext cx="1417320" cy="20116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70932" y="2331720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TOTP / MFA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180076" y="2551176"/>
            <a:ext cx="13441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OTP code
generation</a:t>
            </a:r>
            <a:endParaRPr sz="680" b="0" i="0">
              <a:solidFill>
                <a:srgbClr val="1E293B"/>
              </a:solidFill>
            </a:endParaRPr>
          </a:p>
        </p:txBody>
      </p:sp>
      <p:sp>
        <p:nvSpPr>
          <p:cNvPr id="46" name="Oval 45"/>
          <p:cNvSpPr/>
          <p:nvPr/>
        </p:nvSpPr>
        <p:spPr>
          <a:xfrm>
            <a:off x="6606540" y="2322576"/>
            <a:ext cx="1417320" cy="576072"/>
          </a:xfrm>
          <a:prstGeom prst="ellipse">
            <a:avLst/>
          </a:prstGeom>
          <a:solidFill>
            <a:srgbClr val="F1F5F9"/>
          </a:solidFill>
          <a:ln w="1270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06540" y="2322576"/>
            <a:ext cx="1417320" cy="20116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33972" y="2331720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Watchdog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643116" y="2551176"/>
            <a:ext cx="13441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Re-auth on
session expiry</a:t>
            </a:r>
            <a:endParaRPr sz="680" b="0" i="0">
              <a:solidFill>
                <a:srgbClr val="1E293B"/>
              </a:solidFill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164592" y="3035808"/>
            <a:ext cx="8229600" cy="9601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64592" y="3035808"/>
            <a:ext cx="54864" cy="960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4320" y="305409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C2626"/>
                </a:solidFill>
              </a:rPr>
              <a:t>TIER 3 — SCAN ENGINES</a:t>
            </a:r>
            <a:endParaRPr sz="800" b="1" i="0">
              <a:solidFill>
                <a:srgbClr val="DC2626"/>
              </a:solidFill>
            </a:endParaRPr>
          </a:p>
        </p:txBody>
      </p:sp>
      <p:sp>
        <p:nvSpPr>
          <p:cNvPr id="53" name="Oval 52"/>
          <p:cNvSpPr/>
          <p:nvPr/>
        </p:nvSpPr>
        <p:spPr>
          <a:xfrm>
            <a:off x="937259" y="3328416"/>
            <a:ext cx="1417320" cy="576072"/>
          </a:xfrm>
          <a:prstGeom prst="ellipse">
            <a:avLst/>
          </a:prstGeom>
          <a:solidFill>
            <a:srgbClr val="F1F5F9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37259" y="3328416"/>
            <a:ext cx="1417320" cy="20116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4692" y="3337560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ZAP Docker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973836" y="3557016"/>
            <a:ext cx="13441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ghcr.io/zaproxy
Port 8080</a:t>
            </a:r>
            <a:endParaRPr sz="680" b="0" i="0">
              <a:solidFill>
                <a:srgbClr val="1E293B"/>
              </a:solidFill>
            </a:endParaRPr>
          </a:p>
        </p:txBody>
      </p:sp>
      <p:sp>
        <p:nvSpPr>
          <p:cNvPr id="57" name="Oval 56"/>
          <p:cNvSpPr/>
          <p:nvPr/>
        </p:nvSpPr>
        <p:spPr>
          <a:xfrm>
            <a:off x="2948940" y="3328416"/>
            <a:ext cx="1417320" cy="576072"/>
          </a:xfrm>
          <a:prstGeom prst="ellipse">
            <a:avLst/>
          </a:prstGeom>
          <a:solidFill>
            <a:srgbClr val="F1F5F9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48940" y="3328416"/>
            <a:ext cx="1417320" cy="20116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76372" y="3337560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Spider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985516" y="3557016"/>
            <a:ext cx="13441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URL crawl
asset filter</a:t>
            </a:r>
            <a:endParaRPr sz="680" b="0" i="0">
              <a:solidFill>
                <a:srgbClr val="1E293B"/>
              </a:solidFill>
            </a:endParaRPr>
          </a:p>
        </p:txBody>
      </p:sp>
      <p:sp>
        <p:nvSpPr>
          <p:cNvPr id="61" name="Oval 60"/>
          <p:cNvSpPr/>
          <p:nvPr/>
        </p:nvSpPr>
        <p:spPr>
          <a:xfrm>
            <a:off x="4960620" y="3328416"/>
            <a:ext cx="1417320" cy="576072"/>
          </a:xfrm>
          <a:prstGeom prst="ellipse">
            <a:avLst/>
          </a:prstGeom>
          <a:solidFill>
            <a:srgbClr val="F1F5F9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960620" y="3328416"/>
            <a:ext cx="1417320" cy="20116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988052" y="3337560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Active Scan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4997196" y="3557016"/>
            <a:ext cx="13441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Policy-based
attack rules</a:t>
            </a:r>
            <a:endParaRPr sz="680" b="0" i="0">
              <a:solidFill>
                <a:srgbClr val="1E293B"/>
              </a:solidFill>
            </a:endParaRPr>
          </a:p>
        </p:txBody>
      </p:sp>
      <p:sp>
        <p:nvSpPr>
          <p:cNvPr id="65" name="Oval 64"/>
          <p:cNvSpPr/>
          <p:nvPr/>
        </p:nvSpPr>
        <p:spPr>
          <a:xfrm>
            <a:off x="6606540" y="3328416"/>
            <a:ext cx="1417320" cy="576072"/>
          </a:xfrm>
          <a:prstGeom prst="ellipse">
            <a:avLst/>
          </a:prstGeom>
          <a:solidFill>
            <a:srgbClr val="F1F5F9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606540" y="3328416"/>
            <a:ext cx="1417320" cy="20116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33972" y="3337560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Nmap Docker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6643116" y="3557016"/>
            <a:ext cx="13441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Network port
&amp; svc scan</a:t>
            </a:r>
            <a:endParaRPr sz="680" b="0" i="0">
              <a:solidFill>
                <a:srgbClr val="1E293B"/>
              </a:solidFill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164592" y="4041648"/>
            <a:ext cx="8229600" cy="10789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64592" y="4041648"/>
            <a:ext cx="54864" cy="1078992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4320" y="4059935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634D4"/>
                </a:solidFill>
              </a:rPr>
              <a:t>TIER 4 — AI PIPELINE</a:t>
            </a:r>
            <a:endParaRPr sz="800" b="1" i="0">
              <a:solidFill>
                <a:srgbClr val="5634D4"/>
              </a:solidFill>
            </a:endParaRPr>
          </a:p>
        </p:txBody>
      </p:sp>
      <p:sp>
        <p:nvSpPr>
          <p:cNvPr id="72" name="Oval 71"/>
          <p:cNvSpPr/>
          <p:nvPr/>
        </p:nvSpPr>
        <p:spPr>
          <a:xfrm>
            <a:off x="754380" y="4334256"/>
            <a:ext cx="1417320" cy="694944"/>
          </a:xfrm>
          <a:prstGeom prst="ellipse">
            <a:avLst/>
          </a:prstGeom>
          <a:solidFill>
            <a:srgbClr val="F1F5F9"/>
          </a:solidFill>
          <a:ln w="12700">
            <a:solidFill>
              <a:srgbClr val="563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54380" y="4334256"/>
            <a:ext cx="1417320" cy="201168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1812" y="4343400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Ollama LLM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90956" y="4562856"/>
            <a:ext cx="134416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qwen2.5 / Claude
/ GPT models</a:t>
            </a:r>
            <a:endParaRPr sz="680" b="0" i="0">
              <a:solidFill>
                <a:srgbClr val="1E293B"/>
              </a:solidFill>
            </a:endParaRPr>
          </a:p>
        </p:txBody>
      </p:sp>
      <p:sp>
        <p:nvSpPr>
          <p:cNvPr id="76" name="Oval 75"/>
          <p:cNvSpPr/>
          <p:nvPr/>
        </p:nvSpPr>
        <p:spPr>
          <a:xfrm>
            <a:off x="2948940" y="4334256"/>
            <a:ext cx="1417320" cy="694944"/>
          </a:xfrm>
          <a:prstGeom prst="ellipse">
            <a:avLst/>
          </a:prstGeom>
          <a:solidFill>
            <a:srgbClr val="F1F5F9"/>
          </a:solidFill>
          <a:ln w="12700">
            <a:solidFill>
              <a:srgbClr val="563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948940" y="4334256"/>
            <a:ext cx="1417320" cy="201168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976372" y="4343400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AI Enrichment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2985516" y="4562856"/>
            <a:ext cx="134416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Batch + Cache
SHA-256 keyed</a:t>
            </a:r>
            <a:endParaRPr sz="680" b="0" i="0">
              <a:solidFill>
                <a:srgbClr val="1E293B"/>
              </a:solidFill>
            </a:endParaRPr>
          </a:p>
        </p:txBody>
      </p:sp>
      <p:sp>
        <p:nvSpPr>
          <p:cNvPr id="80" name="Oval 79"/>
          <p:cNvSpPr/>
          <p:nvPr/>
        </p:nvSpPr>
        <p:spPr>
          <a:xfrm>
            <a:off x="5143500" y="4334256"/>
            <a:ext cx="1417320" cy="694944"/>
          </a:xfrm>
          <a:prstGeom prst="ellipse">
            <a:avLst/>
          </a:prstGeom>
          <a:solidFill>
            <a:srgbClr val="F1F5F9"/>
          </a:solidFill>
          <a:ln w="12700">
            <a:solidFill>
              <a:srgbClr val="563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143500" y="4334256"/>
            <a:ext cx="1417320" cy="201168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170932" y="4343400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FP Analysis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180076" y="4562856"/>
            <a:ext cx="134416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Hybrid AI+Rule
58.8% noise cut</a:t>
            </a:r>
            <a:endParaRPr sz="680" b="0" i="0">
              <a:solidFill>
                <a:srgbClr val="1E293B"/>
              </a:solidFill>
            </a:endParaRPr>
          </a:p>
        </p:txBody>
      </p:sp>
      <p:sp>
        <p:nvSpPr>
          <p:cNvPr id="84" name="Oval 83"/>
          <p:cNvSpPr/>
          <p:nvPr/>
        </p:nvSpPr>
        <p:spPr>
          <a:xfrm>
            <a:off x="6606540" y="4334256"/>
            <a:ext cx="1417320" cy="694944"/>
          </a:xfrm>
          <a:prstGeom prst="ellipse">
            <a:avLst/>
          </a:prstGeom>
          <a:solidFill>
            <a:srgbClr val="F1F5F9"/>
          </a:solidFill>
          <a:ln w="12700">
            <a:solidFill>
              <a:srgbClr val="563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606540" y="4334256"/>
            <a:ext cx="1417320" cy="201168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633972" y="4343400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Validation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6643116" y="4562856"/>
            <a:ext cx="134416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Accuracy check
92%+ agreement</a:t>
            </a:r>
            <a:endParaRPr sz="680" b="0" i="0">
              <a:solidFill>
                <a:srgbClr val="1E293B"/>
              </a:solidFill>
            </a:endParaRPr>
          </a:p>
        </p:txBody>
      </p:sp>
      <p:sp>
        <p:nvSpPr>
          <p:cNvPr id="88" name="Rectangle 87"/>
          <p:cNvSpPr/>
          <p:nvPr/>
        </p:nvSpPr>
        <p:spPr>
          <a:xfrm>
            <a:off x="164592" y="5175504"/>
            <a:ext cx="8229600" cy="10789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64592" y="5175504"/>
            <a:ext cx="54864" cy="10789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4320" y="519379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6A34A"/>
                </a:solidFill>
              </a:rPr>
              <a:t>TIER 5 — REPORTING</a:t>
            </a:r>
            <a:endParaRPr sz="800" b="1" i="0">
              <a:solidFill>
                <a:srgbClr val="16A34A"/>
              </a:solidFill>
            </a:endParaRPr>
          </a:p>
        </p:txBody>
      </p:sp>
      <p:sp>
        <p:nvSpPr>
          <p:cNvPr id="91" name="Oval 90"/>
          <p:cNvSpPr/>
          <p:nvPr/>
        </p:nvSpPr>
        <p:spPr>
          <a:xfrm>
            <a:off x="480060" y="5468112"/>
            <a:ext cx="1417320" cy="694944"/>
          </a:xfrm>
          <a:prstGeom prst="ellipse">
            <a:avLst/>
          </a:prstGeom>
          <a:solidFill>
            <a:srgbClr val="F1F5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80060" y="5468112"/>
            <a:ext cx="1417320" cy="2011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7492" y="5477256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Excel 12-tab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516636" y="5696712"/>
            <a:ext cx="134416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Dashboard·Findings
OWASP·FP·Trend</a:t>
            </a:r>
            <a:endParaRPr sz="680" b="0" i="0">
              <a:solidFill>
                <a:srgbClr val="1E293B"/>
              </a:solidFill>
            </a:endParaRPr>
          </a:p>
        </p:txBody>
      </p:sp>
      <p:sp>
        <p:nvSpPr>
          <p:cNvPr id="95" name="Oval 94"/>
          <p:cNvSpPr/>
          <p:nvPr/>
        </p:nvSpPr>
        <p:spPr>
          <a:xfrm>
            <a:off x="2491740" y="5468112"/>
            <a:ext cx="1417320" cy="694944"/>
          </a:xfrm>
          <a:prstGeom prst="ellipse">
            <a:avLst/>
          </a:prstGeom>
          <a:solidFill>
            <a:srgbClr val="F1F5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491740" y="5468112"/>
            <a:ext cx="1417320" cy="2011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519172" y="5477256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Word .docx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2528316" y="5696712"/>
            <a:ext cx="134416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Narrative report
13 sections</a:t>
            </a:r>
            <a:endParaRPr sz="680" b="0" i="0">
              <a:solidFill>
                <a:srgbClr val="1E293B"/>
              </a:solidFill>
            </a:endParaRPr>
          </a:p>
        </p:txBody>
      </p:sp>
      <p:sp>
        <p:nvSpPr>
          <p:cNvPr id="99" name="Oval 98"/>
          <p:cNvSpPr/>
          <p:nvPr/>
        </p:nvSpPr>
        <p:spPr>
          <a:xfrm>
            <a:off x="4137659" y="5468112"/>
            <a:ext cx="1417320" cy="694944"/>
          </a:xfrm>
          <a:prstGeom prst="ellipse">
            <a:avLst/>
          </a:prstGeom>
          <a:solidFill>
            <a:srgbClr val="F1F5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137659" y="5468112"/>
            <a:ext cx="1417320" cy="2011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65091" y="5477256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HTML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4174235" y="5696712"/>
            <a:ext cx="134416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Chart.js dash
Severity filter</a:t>
            </a:r>
            <a:endParaRPr sz="680" b="0" i="0">
              <a:solidFill>
                <a:srgbClr val="1E293B"/>
              </a:solidFill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5600700" y="5468112"/>
            <a:ext cx="1417320" cy="694944"/>
          </a:xfrm>
          <a:prstGeom prst="ellipse">
            <a:avLst/>
          </a:prstGeom>
          <a:solidFill>
            <a:srgbClr val="F1F5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600700" y="5468112"/>
            <a:ext cx="1417320" cy="2011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628132" y="5477256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SARIF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5637276" y="5696712"/>
            <a:ext cx="134416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CI/CD native
GitHub/Azure</a:t>
            </a:r>
            <a:endParaRPr sz="680" b="0" i="0">
              <a:solidFill>
                <a:srgbClr val="1E293B"/>
              </a:solidFill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6972300" y="5468112"/>
            <a:ext cx="1417320" cy="694944"/>
          </a:xfrm>
          <a:prstGeom prst="ellipse">
            <a:avLst/>
          </a:prstGeom>
          <a:solidFill>
            <a:srgbClr val="F1F5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972300" y="5468112"/>
            <a:ext cx="1417320" cy="2011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99732" y="5477256"/>
            <a:ext cx="1362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JSON/CSV</a:t>
            </a:r>
            <a:endParaRPr sz="700" b="1" i="0">
              <a:solidFill>
                <a:srgbClr val="FFFFFF"/>
              </a:solidFill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7008876" y="5696712"/>
            <a:ext cx="134416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" b="0" i="0">
                <a:solidFill>
                  <a:srgbClr val="1E293B"/>
                </a:solidFill>
              </a:rPr>
              <a:t>SIEM ingest
Splunk·QRadar</a:t>
            </a:r>
            <a:endParaRPr sz="680" b="0" i="0">
              <a:solidFill>
                <a:srgbClr val="1E293B"/>
              </a:solidFill>
            </a:endParaRPr>
          </a:p>
        </p:txBody>
      </p:sp>
      <p:cxnSp>
        <p:nvCxnSpPr>
          <p:cNvPr id="111" name="Connector 110"/>
          <p:cNvCxnSpPr/>
          <p:nvPr/>
        </p:nvCxnSpPr>
        <p:spPr>
          <a:xfrm>
            <a:off x="4114800" y="1975104"/>
            <a:ext cx="0" cy="64008"/>
          </a:xfrm>
          <a:prstGeom prst="line">
            <a:avLst/>
          </a:prstGeom>
          <a:ln w="17780">
            <a:solidFill>
              <a:srgbClr val="0284C7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114800" y="2980944"/>
            <a:ext cx="0" cy="64008"/>
          </a:xfrm>
          <a:prstGeom prst="line">
            <a:avLst/>
          </a:prstGeom>
          <a:ln w="17780">
            <a:solidFill>
              <a:srgbClr val="0284C7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4114800" y="3986784"/>
            <a:ext cx="0" cy="64007"/>
          </a:xfrm>
          <a:prstGeom prst="line">
            <a:avLst/>
          </a:prstGeom>
          <a:ln w="17780">
            <a:solidFill>
              <a:srgbClr val="0284C7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114800" y="5111496"/>
            <a:ext cx="0" cy="73152"/>
          </a:xfrm>
          <a:prstGeom prst="line">
            <a:avLst/>
          </a:prstGeom>
          <a:ln w="17780">
            <a:solidFill>
              <a:srgbClr val="0284C7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Oval 114"/>
          <p:cNvSpPr/>
          <p:nvPr/>
        </p:nvSpPr>
        <p:spPr>
          <a:xfrm>
            <a:off x="8577072" y="1024128"/>
            <a:ext cx="3401568" cy="5413248"/>
          </a:xfrm>
          <a:prstGeom prst="ellipse">
            <a:avLst/>
          </a:prstGeom>
          <a:solidFill>
            <a:srgbClr val="F1F5F9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577072" y="1024128"/>
            <a:ext cx="3401568" cy="310896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668512" y="1078992"/>
            <a:ext cx="32186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284C7"/>
                </a:solidFill>
              </a:rPr>
              <a:t>SETUP REQUIREMENTS</a:t>
            </a:r>
            <a:endParaRPr sz="900" b="1" i="0">
              <a:solidFill>
                <a:srgbClr val="0284C7"/>
              </a:solidFill>
            </a:endParaRPr>
          </a:p>
        </p:txBody>
      </p:sp>
      <p:sp>
        <p:nvSpPr>
          <p:cNvPr id="118" name="Rectangle 117"/>
          <p:cNvSpPr/>
          <p:nvPr/>
        </p:nvSpPr>
        <p:spPr>
          <a:xfrm>
            <a:off x="8631936" y="1389888"/>
            <a:ext cx="3291840" cy="64008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631936" y="1389888"/>
            <a:ext cx="45720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723376" y="1426464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Python 3.12+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121" name="TextBox 120"/>
          <p:cNvSpPr txBox="1"/>
          <p:nvPr/>
        </p:nvSpPr>
        <p:spPr>
          <a:xfrm>
            <a:off x="8723376" y="1645920"/>
            <a:ext cx="3145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1E293B"/>
                </a:solidFill>
              </a:rPr>
              <a:t>python -m venv .venv
pip install -r requirements.txt</a:t>
            </a:r>
            <a:endParaRPr sz="750" b="0" i="1">
              <a:solidFill>
                <a:srgbClr val="1E293B"/>
              </a:solidFill>
            </a:endParaRPr>
          </a:p>
        </p:txBody>
      </p:sp>
      <p:sp>
        <p:nvSpPr>
          <p:cNvPr id="122" name="Rectangle 121"/>
          <p:cNvSpPr/>
          <p:nvPr/>
        </p:nvSpPr>
        <p:spPr>
          <a:xfrm>
            <a:off x="8631936" y="2066543"/>
            <a:ext cx="329184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631936" y="2066543"/>
            <a:ext cx="45720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723376" y="2103120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Docker Desktop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8723376" y="2322576"/>
            <a:ext cx="3145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1E293B"/>
                </a:solidFill>
              </a:rPr>
              <a:t>ZAP + Nmap run as Docker containers</a:t>
            </a:r>
            <a:endParaRPr sz="750" b="0" i="1">
              <a:solidFill>
                <a:srgbClr val="1E293B"/>
              </a:solidFill>
            </a:endParaRPr>
          </a:p>
        </p:txBody>
      </p:sp>
      <p:sp>
        <p:nvSpPr>
          <p:cNvPr id="126" name="Rectangle 125"/>
          <p:cNvSpPr/>
          <p:nvPr/>
        </p:nvSpPr>
        <p:spPr>
          <a:xfrm>
            <a:off x="8631936" y="2743200"/>
            <a:ext cx="3291840" cy="64008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8631936" y="2743200"/>
            <a:ext cx="45720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723376" y="2779776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Ollama + Model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8723376" y="2999232"/>
            <a:ext cx="3145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1E293B"/>
                </a:solidFill>
              </a:rPr>
              <a:t>ollama serve  &amp;  ollama pull qwen2.5</a:t>
            </a:r>
            <a:endParaRPr sz="750" b="0" i="1">
              <a:solidFill>
                <a:srgbClr val="1E293B"/>
              </a:solidFill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8631936" y="3419856"/>
            <a:ext cx="329184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631936" y="3419856"/>
            <a:ext cx="45720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723376" y="3456432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ZAP API Key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8723376" y="3675887"/>
            <a:ext cx="3145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1E293B"/>
                </a:solidFill>
              </a:rPr>
              <a:t>Set in config.txt — default port 8080</a:t>
            </a:r>
            <a:endParaRPr sz="750" b="0" i="1">
              <a:solidFill>
                <a:srgbClr val="1E293B"/>
              </a:solidFill>
            </a:endParaRPr>
          </a:p>
        </p:txBody>
      </p:sp>
      <p:sp>
        <p:nvSpPr>
          <p:cNvPr id="134" name="Rectangle 133"/>
          <p:cNvSpPr/>
          <p:nvPr/>
        </p:nvSpPr>
        <p:spPr>
          <a:xfrm>
            <a:off x="8631936" y="4096512"/>
            <a:ext cx="3291840" cy="64008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8631936" y="4096512"/>
            <a:ext cx="45720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723376" y="4133088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Profile JSON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8723376" y="4352544"/>
            <a:ext cx="3145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1E293B"/>
                </a:solidFill>
              </a:rPr>
              <a:t>cp profiles/example.json profiles/myapp.json</a:t>
            </a:r>
            <a:endParaRPr sz="750" b="0" i="1">
              <a:solidFill>
                <a:srgbClr val="1E293B"/>
              </a:solidFill>
            </a:endParaRPr>
          </a:p>
        </p:txBody>
      </p:sp>
      <p:sp>
        <p:nvSpPr>
          <p:cNvPr id="138" name="Rectangle 137"/>
          <p:cNvSpPr/>
          <p:nvPr/>
        </p:nvSpPr>
        <p:spPr>
          <a:xfrm>
            <a:off x="8631936" y="4773168"/>
            <a:ext cx="329184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8631936" y="4773168"/>
            <a:ext cx="45720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723376" y="4809744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HAR Session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141" name="TextBox 140"/>
          <p:cNvSpPr txBox="1"/>
          <p:nvPr/>
        </p:nvSpPr>
        <p:spPr>
          <a:xfrm>
            <a:off x="8723376" y="5029200"/>
            <a:ext cx="3145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1E293B"/>
                </a:solidFill>
              </a:rPr>
              <a:t>Record via browser DevTools, save to auth_sessions/</a:t>
            </a:r>
            <a:endParaRPr sz="750" b="0" i="1">
              <a:solidFill>
                <a:srgbClr val="1E293B"/>
              </a:solidFill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8631936" y="5449823"/>
            <a:ext cx="3291840" cy="64008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8631936" y="5449823"/>
            <a:ext cx="45720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723376" y="5486399"/>
            <a:ext cx="3145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Web UI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8723376" y="5705855"/>
            <a:ext cx="3145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1E293B"/>
                </a:solidFill>
              </a:rPr>
              <a:t>bash web/start.sh --port 8090</a:t>
            </a:r>
            <a:endParaRPr sz="750" b="0" i="1">
              <a:solidFill>
                <a:srgbClr val="1E293B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" y="54864"/>
            <a:ext cx="10058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DEPLOYMENT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4592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Deployment Architecture &amp; Operational Model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7665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64748B"/>
                </a:solidFill>
              </a:rPr>
              <a:t>13 / 15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28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624828"/>
            <a:ext cx="11823192" cy="20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 DAST AI Framework  ·  Accenture Security  ·  2026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201168" y="1078992"/>
            <a:ext cx="11786616" cy="384048"/>
          </a:xfrm>
          <a:prstGeom prst="ellipse">
            <a:avLst/>
          </a:prstGeom>
          <a:solidFill>
            <a:srgbClr val="F1F5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1168" y="1078992"/>
            <a:ext cx="54864" cy="38404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133856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284C7"/>
                </a:solidFill>
              </a:rPr>
              <a:t>One command to start. Cloud-accessible in 60 seconds via Cloudflare Tunnel.</a:t>
            </a:r>
            <a:endParaRPr sz="1150" b="1" i="0">
              <a:solidFill>
                <a:srgbClr val="0284C7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01168" y="1572768"/>
            <a:ext cx="5833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DEPLOYMENT STACK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16" name="Oval 15"/>
          <p:cNvSpPr/>
          <p:nvPr/>
        </p:nvSpPr>
        <p:spPr>
          <a:xfrm>
            <a:off x="201168" y="1883664"/>
            <a:ext cx="5833872" cy="950976"/>
          </a:xfrm>
          <a:prstGeom prst="ellipse">
            <a:avLst/>
          </a:prstGeom>
          <a:solidFill>
            <a:srgbClr val="F1F5F9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1168" y="1883664"/>
            <a:ext cx="5833872" cy="2926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" y="1920240"/>
            <a:ext cx="56327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start.sh — One-Command Startup</a:t>
            </a:r>
            <a:endParaRPr sz="950" b="1" i="0">
              <a:solidFill>
                <a:srgbClr val="FFFFFF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10896" y="2212848"/>
            <a:ext cx="56327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</a:rPr>
              <a:t>source zapenv/bin/activate  →  pip install  →  uvicorn on port 8090</a:t>
            </a:r>
            <a:endParaRPr sz="850" b="0" i="0">
              <a:solidFill>
                <a:srgbClr val="1E293B"/>
              </a:solidFill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3118104" y="2834640"/>
            <a:ext cx="0" cy="128016"/>
          </a:xfrm>
          <a:prstGeom prst="line">
            <a:avLst/>
          </a:prstGeom>
          <a:ln w="17780">
            <a:solidFill>
              <a:srgbClr val="0284C7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201168" y="2962656"/>
            <a:ext cx="5833872" cy="950976"/>
          </a:xfrm>
          <a:prstGeom prst="ellipse">
            <a:avLst/>
          </a:prstGeom>
          <a:solidFill>
            <a:srgbClr val="F1F5F9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01168" y="2962656"/>
            <a:ext cx="5833872" cy="2926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0896" y="2999232"/>
            <a:ext cx="56327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Docker Compose — Container Deployment</a:t>
            </a:r>
            <a:endParaRPr sz="950" b="1" i="0">
              <a:solidFill>
                <a:srgbClr val="FFFFFF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10896" y="3291840"/>
            <a:ext cx="56327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</a:rPr>
              <a:t>Image: dast-ai-web · Docker socket sharing · Volumes: reports/ · profiles/</a:t>
            </a:r>
            <a:endParaRPr sz="850" b="0" i="0">
              <a:solidFill>
                <a:srgbClr val="1E293B"/>
              </a:solidFill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3118104" y="3913632"/>
            <a:ext cx="0" cy="128016"/>
          </a:xfrm>
          <a:prstGeom prst="line">
            <a:avLst/>
          </a:prstGeom>
          <a:ln w="17780">
            <a:solidFill>
              <a:srgbClr val="0284C7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201168" y="4041648"/>
            <a:ext cx="5833872" cy="950976"/>
          </a:xfrm>
          <a:prstGeom prst="ellipse">
            <a:avLst/>
          </a:prstGeom>
          <a:solidFill>
            <a:srgbClr val="F1F5F9"/>
          </a:solidFill>
          <a:ln w="1524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01168" y="4041648"/>
            <a:ext cx="5833872" cy="29260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0896" y="4078224"/>
            <a:ext cx="56327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nginx — Reverse Proxy</a:t>
            </a:r>
            <a:endParaRPr sz="950" b="1" i="0">
              <a:solidFill>
                <a:srgbClr val="FFFFFF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10896" y="4370832"/>
            <a:ext cx="56327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</a:rPr>
              <a:t>SPA fallback routing · /api/ proxied · WebSocket upgrade · gzip</a:t>
            </a:r>
            <a:endParaRPr sz="850" b="0" i="0">
              <a:solidFill>
                <a:srgbClr val="1E293B"/>
              </a:solidFill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3118104" y="4992624"/>
            <a:ext cx="0" cy="128016"/>
          </a:xfrm>
          <a:prstGeom prst="line">
            <a:avLst/>
          </a:prstGeom>
          <a:ln w="17780">
            <a:solidFill>
              <a:srgbClr val="0284C7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01168" y="5120640"/>
            <a:ext cx="5833872" cy="950976"/>
          </a:xfrm>
          <a:prstGeom prst="ellipse">
            <a:avLst/>
          </a:prstGeom>
          <a:solidFill>
            <a:srgbClr val="F1F5F9"/>
          </a:solidFill>
          <a:ln w="1524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01168" y="5120640"/>
            <a:ext cx="5833872" cy="29260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5157216"/>
            <a:ext cx="56327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Cloudflare Tunnel — External Access</a:t>
            </a:r>
            <a:endParaRPr sz="950" b="1" i="0">
              <a:solidFill>
                <a:srgbClr val="FFFFFF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10896" y="5449824"/>
            <a:ext cx="56327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</a:rPr>
              <a:t>Zero-config TLS certificate · Public HTTPS URL · No port-forwarding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291072" y="1572768"/>
            <a:ext cx="5687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ACCESS CONTROL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36" name="Oval 35"/>
          <p:cNvSpPr/>
          <p:nvPr/>
        </p:nvSpPr>
        <p:spPr>
          <a:xfrm>
            <a:off x="6291072" y="1883664"/>
            <a:ext cx="1828800" cy="1426464"/>
          </a:xfrm>
          <a:prstGeom prst="ellipse">
            <a:avLst/>
          </a:prstGeom>
          <a:solidFill>
            <a:srgbClr val="F1F5F9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91072" y="1883664"/>
            <a:ext cx="1828800" cy="31089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192024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MANAGER</a:t>
            </a:r>
            <a:endParaRPr sz="950" b="1" i="0">
              <a:solidFill>
                <a:srgbClr val="FFFFFF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382512" y="2267712"/>
            <a:ext cx="1645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</a:rPr>
              <a:t>Full admin · User management · All scan &amp; config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40" name="Oval 39"/>
          <p:cNvSpPr/>
          <p:nvPr/>
        </p:nvSpPr>
        <p:spPr>
          <a:xfrm>
            <a:off x="8229600" y="1883664"/>
            <a:ext cx="1828800" cy="1426464"/>
          </a:xfrm>
          <a:prstGeom prst="ellipse">
            <a:avLst/>
          </a:prstGeom>
          <a:solidFill>
            <a:srgbClr val="F1F5F9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29600" y="1883664"/>
            <a:ext cx="1828800" cy="31089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192024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SCANNER</a:t>
            </a:r>
            <a:endParaRPr sz="950" b="1" i="0">
              <a:solidFill>
                <a:srgbClr val="FFFFFF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321040" y="2267712"/>
            <a:ext cx="1645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</a:rPr>
              <a:t>Launch · cancel · rerun · View findings &amp; reports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44" name="Oval 43"/>
          <p:cNvSpPr/>
          <p:nvPr/>
        </p:nvSpPr>
        <p:spPr>
          <a:xfrm>
            <a:off x="10168128" y="1883664"/>
            <a:ext cx="1828800" cy="1426464"/>
          </a:xfrm>
          <a:prstGeom prst="ellipse">
            <a:avLst/>
          </a:prstGeom>
          <a:solidFill>
            <a:srgbClr val="F1F5F9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68128" y="1883664"/>
            <a:ext cx="1828800" cy="31089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59568" y="192024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VIEWER</a:t>
            </a:r>
            <a:endParaRPr sz="950" b="1" i="0">
              <a:solidFill>
                <a:srgbClr val="FFFFFF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0259568" y="2267712"/>
            <a:ext cx="1645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</a:rPr>
              <a:t>Read-only · View scans, findings · Download reports</a:t>
            </a:r>
            <a:endParaRPr sz="850" b="0" i="0">
              <a:solidFill>
                <a:srgbClr val="1E293B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291072" y="3419856"/>
            <a:ext cx="5687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OPERATIONAL HEALTH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6291072" y="3749039"/>
            <a:ext cx="5687568" cy="621792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91072" y="3749039"/>
            <a:ext cx="50292" cy="62179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0" y="3803903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284C7"/>
                </a:solidFill>
              </a:rPr>
              <a:t>Health Check</a:t>
            </a:r>
            <a:endParaRPr sz="950" b="1" i="0">
              <a:solidFill>
                <a:srgbClr val="0284C7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400800" y="404164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/api/system/health · ZAP · Nmap · Ollama status</a:t>
            </a:r>
            <a:endParaRPr sz="800" b="0" i="0">
              <a:solidFill>
                <a:srgbClr val="1E293B"/>
              </a:solidFill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6291072" y="4425696"/>
            <a:ext cx="5687568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91072" y="4425696"/>
            <a:ext cx="50292" cy="6217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0" y="4480559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563EB"/>
                </a:solidFill>
              </a:rPr>
              <a:t>Persistent State</a:t>
            </a:r>
            <a:endParaRPr sz="950" b="1" i="0">
              <a:solidFill>
                <a:srgbClr val="2563EB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6400800" y="471830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SQLite dast_web.db volume-mounted · reports/ bind-mounted</a:t>
            </a:r>
            <a:endParaRPr sz="800" b="0" i="0">
              <a:solidFill>
                <a:srgbClr val="1E293B"/>
              </a:solidFill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6291072" y="5102352"/>
            <a:ext cx="5687568" cy="621792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91072" y="5102352"/>
            <a:ext cx="50292" cy="6217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0" y="5157216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A580C"/>
                </a:solidFill>
              </a:rPr>
              <a:t>Log Access</a:t>
            </a:r>
            <a:endParaRPr sz="950" b="1" i="0">
              <a:solidFill>
                <a:srgbClr val="EA580C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6400800" y="539496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/ws/scans/{id}/logs WebSocket · rotating file logs</a:t>
            </a:r>
            <a:endParaRPr sz="800" b="0" i="0">
              <a:solidFill>
                <a:srgbClr val="1E293B"/>
              </a:solidFill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6291072" y="5779007"/>
            <a:ext cx="5687568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91072" y="5779007"/>
            <a:ext cx="50292" cy="6217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0" y="5833871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6A34A"/>
                </a:solidFill>
              </a:rPr>
              <a:t>Session Auth</a:t>
            </a:r>
            <a:endParaRPr sz="950" b="1" i="0">
              <a:solidFill>
                <a:srgbClr val="16A34A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400800" y="607161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X-Username + localStorage · Login modal on 401</a:t>
            </a:r>
            <a:endParaRPr sz="800" b="0" i="0">
              <a:solidFill>
                <a:srgbClr val="1E293B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" y="54864"/>
            <a:ext cx="10058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TEAM OPERATIONS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4592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Team Access, Scheduling &amp; Report Delivery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7665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64748B"/>
                </a:solidFill>
              </a:rPr>
              <a:t>08 / 15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28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624828"/>
            <a:ext cx="11823192" cy="20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DAST AI Framework  ·  Accenture Security  ·  2026 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01168" y="1078992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ROLE-BASED ACCESS CONTROL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13" name="Oval 12"/>
          <p:cNvSpPr/>
          <p:nvPr/>
        </p:nvSpPr>
        <p:spPr>
          <a:xfrm>
            <a:off x="201168" y="1408176"/>
            <a:ext cx="5074920" cy="1444752"/>
          </a:xfrm>
          <a:prstGeom prst="ellipse">
            <a:avLst/>
          </a:prstGeom>
          <a:solidFill>
            <a:srgbClr val="F1F5F9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1408176"/>
            <a:ext cx="5074920" cy="32918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" y="1453896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MANAGER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29184" y="1792224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Full admin rights
User management
All scan &amp; config actions
Report access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17" name="Oval 16"/>
          <p:cNvSpPr/>
          <p:nvPr/>
        </p:nvSpPr>
        <p:spPr>
          <a:xfrm>
            <a:off x="201168" y="2980944"/>
            <a:ext cx="5074920" cy="1444752"/>
          </a:xfrm>
          <a:prstGeom prst="ellipse">
            <a:avLst/>
          </a:prstGeom>
          <a:solidFill>
            <a:srgbClr val="F1F5F9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" y="2980944"/>
            <a:ext cx="5074920" cy="32918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" y="3026663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SCANNER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29184" y="3364991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Launch, cancel, rerun
View findings &amp; reports
Manage scan profiles
Auth record mgmt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21" name="Oval 20"/>
          <p:cNvSpPr/>
          <p:nvPr/>
        </p:nvSpPr>
        <p:spPr>
          <a:xfrm>
            <a:off x="201168" y="4553712"/>
            <a:ext cx="5074920" cy="1444752"/>
          </a:xfrm>
          <a:prstGeom prst="ellipse">
            <a:avLst/>
          </a:prstGeom>
          <a:solidFill>
            <a:srgbClr val="F1F5F9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01168" y="4553712"/>
            <a:ext cx="5074920" cy="32918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4599432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VIEWER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4" y="493776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Read-only access
View scans &amp; findings
Download reports
No launch or config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86400" y="1078992"/>
            <a:ext cx="6501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SCHEDULED AUTOMATION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26" name="Oval 25"/>
          <p:cNvSpPr/>
          <p:nvPr/>
        </p:nvSpPr>
        <p:spPr>
          <a:xfrm>
            <a:off x="5486400" y="1408176"/>
            <a:ext cx="2084831" cy="969264"/>
          </a:xfrm>
          <a:prstGeom prst="ellipse">
            <a:avLst/>
          </a:prstGeom>
          <a:solidFill>
            <a:srgbClr val="F1F5F9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0" y="1408176"/>
            <a:ext cx="2084831" cy="2743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77840" y="1435608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Daily</a:t>
            </a:r>
            <a:endParaRPr sz="1000" b="1" i="0">
              <a:solidFill>
                <a:srgbClr val="FFFFFF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577840" y="1719072"/>
            <a:ext cx="190195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Overnight scan — results ready each morning</a:t>
            </a:r>
            <a:endParaRPr sz="800" b="0" i="0">
              <a:solidFill>
                <a:srgbClr val="1E293B"/>
              </a:solidFill>
            </a:endParaRPr>
          </a:p>
        </p:txBody>
      </p:sp>
      <p:sp>
        <p:nvSpPr>
          <p:cNvPr id="30" name="Oval 29"/>
          <p:cNvSpPr/>
          <p:nvPr/>
        </p:nvSpPr>
        <p:spPr>
          <a:xfrm>
            <a:off x="7699248" y="1408176"/>
            <a:ext cx="2084831" cy="969264"/>
          </a:xfrm>
          <a:prstGeom prst="ellipse">
            <a:avLst/>
          </a:prstGeom>
          <a:solidFill>
            <a:srgbClr val="F1F5F9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99248" y="1408176"/>
            <a:ext cx="2084831" cy="274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90688" y="1435608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Weekly</a:t>
            </a:r>
            <a:endParaRPr sz="1000" b="1" i="0">
              <a:solidFill>
                <a:srgbClr val="FFFFFF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790688" y="1719072"/>
            <a:ext cx="190195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End-of-sprint scan — trend delta vs prior week</a:t>
            </a:r>
            <a:endParaRPr sz="800" b="0" i="0">
              <a:solidFill>
                <a:srgbClr val="1E293B"/>
              </a:solidFill>
            </a:endParaRPr>
          </a:p>
        </p:txBody>
      </p:sp>
      <p:sp>
        <p:nvSpPr>
          <p:cNvPr id="34" name="Oval 33"/>
          <p:cNvSpPr/>
          <p:nvPr/>
        </p:nvSpPr>
        <p:spPr>
          <a:xfrm>
            <a:off x="9912096" y="1408176"/>
            <a:ext cx="2084831" cy="969264"/>
          </a:xfrm>
          <a:prstGeom prst="ellipse">
            <a:avLst/>
          </a:prstGeom>
          <a:solidFill>
            <a:srgbClr val="F1F5F9"/>
          </a:solidFill>
          <a:ln w="15240">
            <a:solidFill>
              <a:srgbClr val="563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912096" y="1408176"/>
            <a:ext cx="2084831" cy="274320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03536" y="1435608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Monthly</a:t>
            </a:r>
            <a:endParaRPr sz="1000" b="1" i="0">
              <a:solidFill>
                <a:srgbClr val="FFFFFF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003536" y="1719072"/>
            <a:ext cx="190195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Board report scan — full 7-pillar AI pipeline</a:t>
            </a:r>
            <a:endParaRPr sz="800" b="0" i="0">
              <a:solidFill>
                <a:srgbClr val="1E293B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486400" y="2505456"/>
            <a:ext cx="65013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REPORT FORMATS — ONE-CLICK DOWNLOAD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39" name="Oval 38"/>
          <p:cNvSpPr/>
          <p:nvPr/>
        </p:nvSpPr>
        <p:spPr>
          <a:xfrm>
            <a:off x="5486400" y="2834640"/>
            <a:ext cx="3127248" cy="1152144"/>
          </a:xfrm>
          <a:prstGeom prst="ellipse">
            <a:avLst/>
          </a:prstGeom>
          <a:solidFill>
            <a:srgbClr val="F1F5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0" y="2834640"/>
            <a:ext cx="3127248" cy="5486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96128" y="2944368"/>
            <a:ext cx="2907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284C7"/>
                </a:solidFill>
              </a:rPr>
              <a:t>XLSX</a:t>
            </a:r>
            <a:endParaRPr sz="1200" b="1" i="0">
              <a:solidFill>
                <a:srgbClr val="0284C7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596128" y="3255264"/>
            <a:ext cx="290779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12-tab Excel
Dashboard · Findings · OWASP · Trend</a:t>
            </a:r>
            <a:endParaRPr sz="800" b="0" i="0">
              <a:solidFill>
                <a:srgbClr val="1E293B"/>
              </a:solidFill>
            </a:endParaRPr>
          </a:p>
        </p:txBody>
      </p:sp>
      <p:sp>
        <p:nvSpPr>
          <p:cNvPr id="43" name="Oval 42"/>
          <p:cNvSpPr/>
          <p:nvPr/>
        </p:nvSpPr>
        <p:spPr>
          <a:xfrm>
            <a:off x="8860536" y="2834640"/>
            <a:ext cx="3127248" cy="1152144"/>
          </a:xfrm>
          <a:prstGeom prst="ellipse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860536" y="2834640"/>
            <a:ext cx="3127248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70263" y="2944368"/>
            <a:ext cx="2907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</a:rPr>
              <a:t>DOCX</a:t>
            </a:r>
            <a:endParaRPr sz="1200" b="1" i="0">
              <a:solidFill>
                <a:srgbClr val="2563EB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970263" y="3255264"/>
            <a:ext cx="290779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13-section Word
Narrative report for stakeholders</a:t>
            </a:r>
            <a:endParaRPr sz="800" b="0" i="0">
              <a:solidFill>
                <a:srgbClr val="1E293B"/>
              </a:solidFill>
            </a:endParaRPr>
          </a:p>
        </p:txBody>
      </p:sp>
      <p:sp>
        <p:nvSpPr>
          <p:cNvPr id="47" name="Oval 46"/>
          <p:cNvSpPr/>
          <p:nvPr/>
        </p:nvSpPr>
        <p:spPr>
          <a:xfrm>
            <a:off x="5486400" y="4114800"/>
            <a:ext cx="3127248" cy="1152144"/>
          </a:xfrm>
          <a:prstGeom prst="ellipse">
            <a:avLst/>
          </a:prstGeom>
          <a:solidFill>
            <a:srgbClr val="F1F5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86400" y="4114800"/>
            <a:ext cx="3127248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596128" y="4224528"/>
            <a:ext cx="2907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A34A"/>
                </a:solidFill>
              </a:rPr>
              <a:t>HTML</a:t>
            </a:r>
            <a:endParaRPr sz="1200" b="1" i="0">
              <a:solidFill>
                <a:srgbClr val="16A34A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596128" y="4535424"/>
            <a:ext cx="290779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Chart.js dashboard
Interactive severity filter</a:t>
            </a:r>
            <a:endParaRPr sz="800" b="0" i="0">
              <a:solidFill>
                <a:srgbClr val="1E293B"/>
              </a:solidFill>
            </a:endParaRPr>
          </a:p>
        </p:txBody>
      </p:sp>
      <p:sp>
        <p:nvSpPr>
          <p:cNvPr id="51" name="Oval 50"/>
          <p:cNvSpPr/>
          <p:nvPr/>
        </p:nvSpPr>
        <p:spPr>
          <a:xfrm>
            <a:off x="8860536" y="4114800"/>
            <a:ext cx="3127248" cy="1152144"/>
          </a:xfrm>
          <a:prstGeom prst="ellipse">
            <a:avLst/>
          </a:prstGeom>
          <a:solidFill>
            <a:srgbClr val="F1F5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860536" y="4114800"/>
            <a:ext cx="3127248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70263" y="4224528"/>
            <a:ext cx="2907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580C"/>
                </a:solidFill>
              </a:rPr>
              <a:t>SARIF</a:t>
            </a:r>
            <a:endParaRPr sz="1200" b="1" i="0">
              <a:solidFill>
                <a:srgbClr val="EA580C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8970263" y="4535424"/>
            <a:ext cx="290779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CI/CD native
GitHub · Azure DevOps · SIEM</a:t>
            </a:r>
            <a:endParaRPr sz="800" b="0" i="0">
              <a:solidFill>
                <a:srgbClr val="1E293B"/>
              </a:solidFill>
            </a:endParaRPr>
          </a:p>
        </p:txBody>
      </p:sp>
      <p:sp>
        <p:nvSpPr>
          <p:cNvPr id="55" name="Oval 54"/>
          <p:cNvSpPr/>
          <p:nvPr/>
        </p:nvSpPr>
        <p:spPr>
          <a:xfrm>
            <a:off x="5486400" y="5394960"/>
            <a:ext cx="3127248" cy="1152144"/>
          </a:xfrm>
          <a:prstGeom prst="ellipse">
            <a:avLst/>
          </a:prstGeom>
          <a:solidFill>
            <a:srgbClr val="F1F5F9"/>
          </a:solidFill>
          <a:ln w="12700">
            <a:solidFill>
              <a:srgbClr val="563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86400" y="5394960"/>
            <a:ext cx="3127248" cy="54864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596128" y="5504688"/>
            <a:ext cx="2907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634D4"/>
                </a:solidFill>
              </a:rPr>
              <a:t>JSON</a:t>
            </a:r>
            <a:endParaRPr sz="1200" b="1" i="0">
              <a:solidFill>
                <a:srgbClr val="5634D4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5596128" y="5815584"/>
            <a:ext cx="290779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Full structured data
Splunk · QRadar ingest</a:t>
            </a:r>
            <a:endParaRPr sz="800" b="0" i="0">
              <a:solidFill>
                <a:srgbClr val="1E293B"/>
              </a:solidFill>
            </a:endParaRPr>
          </a:p>
        </p:txBody>
      </p:sp>
      <p:sp>
        <p:nvSpPr>
          <p:cNvPr id="59" name="Oval 58"/>
          <p:cNvSpPr/>
          <p:nvPr/>
        </p:nvSpPr>
        <p:spPr>
          <a:xfrm>
            <a:off x="8860536" y="5394960"/>
            <a:ext cx="3127248" cy="1152144"/>
          </a:xfrm>
          <a:prstGeom prst="ellipse">
            <a:avLst/>
          </a:prstGeom>
          <a:solidFill>
            <a:srgbClr val="F1F5F9"/>
          </a:solidFill>
          <a:ln w="1270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860536" y="5394960"/>
            <a:ext cx="3127248" cy="54864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70263" y="5504688"/>
            <a:ext cx="290779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891B2"/>
                </a:solidFill>
              </a:rPr>
              <a:t>CSV</a:t>
            </a:r>
            <a:endParaRPr sz="1200" b="1" i="0">
              <a:solidFill>
                <a:srgbClr val="0891B2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8970263" y="5815584"/>
            <a:ext cx="290779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Flat export
Spreadsheet &amp; BI tools</a:t>
            </a:r>
            <a:endParaRPr sz="800" b="0" i="0">
              <a:solidFill>
                <a:srgbClr val="1E293B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" y="54864"/>
            <a:ext cx="10058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NEXT STEPS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4592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Ready to Run — Your First Scan in Three Steps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7665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64748B"/>
                </a:solidFill>
              </a:rPr>
              <a:t>15 / 15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28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624828"/>
            <a:ext cx="11823192" cy="20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DAST AI Framework  ·  Accenture Security  ·  2026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201168" y="1078992"/>
            <a:ext cx="11786616" cy="457200"/>
          </a:xfrm>
          <a:prstGeom prst="ellipse">
            <a:avLst/>
          </a:prstGeom>
          <a:solidFill>
            <a:srgbClr val="F1F5F9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1168" y="1078992"/>
            <a:ext cx="54864" cy="4572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161288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284C7"/>
                </a:solidFill>
              </a:rPr>
              <a:t>The web UI is live at http://localhost:8090 — no CLI needed to get started.</a:t>
            </a:r>
            <a:endParaRPr sz="1150" b="1" i="0">
              <a:solidFill>
                <a:srgbClr val="0284C7"/>
              </a:solidFill>
            </a:endParaRPr>
          </a:p>
        </p:txBody>
      </p:sp>
      <p:sp>
        <p:nvSpPr>
          <p:cNvPr id="15" name="Oval 14"/>
          <p:cNvSpPr/>
          <p:nvPr/>
        </p:nvSpPr>
        <p:spPr>
          <a:xfrm>
            <a:off x="256032" y="1682496"/>
            <a:ext cx="3749039" cy="3273552"/>
          </a:xfrm>
          <a:prstGeom prst="ellipse">
            <a:avLst/>
          </a:prstGeom>
          <a:solidFill>
            <a:srgbClr val="F1F5F9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6032" y="1682496"/>
            <a:ext cx="3749039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6032" y="1810512"/>
            <a:ext cx="3749039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284C7"/>
                </a:solidFill>
              </a:rPr>
              <a:t>01</a:t>
            </a:r>
            <a:endParaRPr sz="3800" b="1" i="0">
              <a:solidFill>
                <a:srgbClr val="0284C7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20624" y="2468880"/>
            <a:ext cx="3419856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2560320"/>
            <a:ext cx="3456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35"/>
                </a:solidFill>
              </a:rPr>
              <a:t>Start the Web UI</a:t>
            </a:r>
            <a:endParaRPr sz="1200" b="1" i="0">
              <a:solidFill>
                <a:srgbClr val="0F1E35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02336" y="2944368"/>
            <a:ext cx="3456432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bash web/start.sh --port 8090
Open http://localhost:8090 in your browser.
Sign in with your role (Manager / Scanner / Viewer).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21" name="Oval 20"/>
          <p:cNvSpPr/>
          <p:nvPr/>
        </p:nvSpPr>
        <p:spPr>
          <a:xfrm>
            <a:off x="4169664" y="1682496"/>
            <a:ext cx="3749039" cy="3273552"/>
          </a:xfrm>
          <a:prstGeom prst="ellipse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69664" y="1682496"/>
            <a:ext cx="3749039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69664" y="1810512"/>
            <a:ext cx="3749039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2563EB"/>
                </a:solidFill>
              </a:rPr>
              <a:t>02</a:t>
            </a:r>
            <a:endParaRPr sz="3800" b="1" i="0">
              <a:solidFill>
                <a:srgbClr val="2563EB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334256" y="2468880"/>
            <a:ext cx="3419856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15968" y="2560320"/>
            <a:ext cx="3456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35"/>
                </a:solidFill>
              </a:rPr>
              <a:t>Create a Target Profile</a:t>
            </a:r>
            <a:endParaRPr sz="1200" b="1" i="0">
              <a:solidFill>
                <a:srgbClr val="0F1E35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315968" y="2944368"/>
            <a:ext cx="3456432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Go to  Option Profiles  in the sidebar.
Set the target URL, authentication strategy
(HAR / Form / TOTP / API Key), and scan scope.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27" name="Oval 26"/>
          <p:cNvSpPr/>
          <p:nvPr/>
        </p:nvSpPr>
        <p:spPr>
          <a:xfrm>
            <a:off x="8083296" y="1682496"/>
            <a:ext cx="3749039" cy="3273552"/>
          </a:xfrm>
          <a:prstGeom prst="ellipse">
            <a:avLst/>
          </a:prstGeom>
          <a:solidFill>
            <a:srgbClr val="F1F5F9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83296" y="1682496"/>
            <a:ext cx="3749039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3296" y="1810512"/>
            <a:ext cx="3749039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16A34A"/>
                </a:solidFill>
              </a:rPr>
              <a:t>03</a:t>
            </a:r>
            <a:endParaRPr sz="3800" b="1" i="0">
              <a:solidFill>
                <a:srgbClr val="16A34A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247888" y="2468880"/>
            <a:ext cx="3419856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2560320"/>
            <a:ext cx="3456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35"/>
                </a:solidFill>
              </a:rPr>
              <a:t>Click Start Scan</a:t>
            </a:r>
            <a:endParaRPr sz="1200" b="1" i="0">
              <a:solidFill>
                <a:srgbClr val="0F1E35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229600" y="2944368"/>
            <a:ext cx="3456432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Select your profile and click  + New Scan.
Watch the 7-pillar pipeline run live in the
browser — AI enrichment, FP analysis, reports.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33" name="Oval 32"/>
          <p:cNvSpPr/>
          <p:nvPr/>
        </p:nvSpPr>
        <p:spPr>
          <a:xfrm>
            <a:off x="201168" y="5102352"/>
            <a:ext cx="11786616" cy="1353312"/>
          </a:xfrm>
          <a:prstGeom prst="ellipse">
            <a:avLst/>
          </a:prstGeom>
          <a:solidFill>
            <a:srgbClr val="F1F5F9"/>
          </a:solidFill>
          <a:ln w="19050">
            <a:solidFill>
              <a:srgbClr val="5634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1168" y="5102352"/>
            <a:ext cx="11786616" cy="329184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1168" y="5102352"/>
            <a:ext cx="54864" cy="1353312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5129784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RECOMMENDED ESCALATION PATH</a:t>
            </a:r>
            <a:endParaRPr sz="900" b="1" i="0">
              <a:solidFill>
                <a:srgbClr val="FFFFFF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47472" y="5486400"/>
            <a:ext cx="4206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5634D4"/>
                </a:solidFill>
              </a:rPr>
              <a:t>01</a:t>
            </a:r>
            <a:endParaRPr sz="2000" b="1" i="0">
              <a:solidFill>
                <a:srgbClr val="5634D4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04672" y="5504688"/>
            <a:ext cx="23591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E293B"/>
                </a:solidFill>
              </a:rPr>
              <a:t>Pilot 3 Apps</a:t>
            </a:r>
            <a:endParaRPr sz="950" b="1" i="0">
              <a:solidFill>
                <a:srgbClr val="1E293B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04672" y="5742432"/>
            <a:ext cx="23591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Deploy against 3 internal apps over 2 weeks; baseline metrics captured.</a:t>
            </a:r>
            <a:endParaRPr sz="800" b="0" i="0">
              <a:solidFill>
                <a:srgbClr val="1E293B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291840" y="5486400"/>
            <a:ext cx="4206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5634D4"/>
                </a:solidFill>
              </a:rPr>
              <a:t>02</a:t>
            </a:r>
            <a:endParaRPr sz="2000" b="1" i="0">
              <a:solidFill>
                <a:srgbClr val="5634D4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749039" y="5504688"/>
            <a:ext cx="23591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E293B"/>
                </a:solidFill>
              </a:rPr>
              <a:t>Jira Integration</a:t>
            </a:r>
            <a:endParaRPr sz="950" b="1" i="0">
              <a:solidFill>
                <a:srgbClr val="1E293B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749039" y="5742432"/>
            <a:ext cx="23591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Auto-ticket High/Critical findings into existing engineering workflow.</a:t>
            </a:r>
            <a:endParaRPr sz="800" b="0" i="0">
              <a:solidFill>
                <a:srgbClr val="1E293B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236208" y="5486400"/>
            <a:ext cx="4206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5634D4"/>
                </a:solidFill>
              </a:rPr>
              <a:t>03</a:t>
            </a:r>
            <a:endParaRPr sz="2000" b="1" i="0">
              <a:solidFill>
                <a:srgbClr val="5634D4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693408" y="5504688"/>
            <a:ext cx="23591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E293B"/>
                </a:solidFill>
              </a:rPr>
              <a:t>LLM Fine-tuning</a:t>
            </a:r>
            <a:endParaRPr sz="950" b="1" i="0">
              <a:solidFill>
                <a:srgbClr val="1E293B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693408" y="5742432"/>
            <a:ext cx="23591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Train on historical scan data to push severity agreement above 95%.</a:t>
            </a:r>
            <a:endParaRPr sz="800" b="0" i="0">
              <a:solidFill>
                <a:srgbClr val="1E293B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180576" y="5486400"/>
            <a:ext cx="4206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5634D4"/>
                </a:solidFill>
              </a:rPr>
              <a:t>04</a:t>
            </a:r>
            <a:endParaRPr sz="2000" b="1" i="0">
              <a:solidFill>
                <a:srgbClr val="5634D4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9637776" y="5504688"/>
            <a:ext cx="23591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E293B"/>
                </a:solidFill>
              </a:rPr>
              <a:t>Policy A/B Report</a:t>
            </a:r>
            <a:endParaRPr sz="950" b="1" i="0">
              <a:solidFill>
                <a:srgbClr val="1E293B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9637776" y="5742432"/>
            <a:ext cx="23591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Run policy optimisation; present A/B comparison to security leadership.</a:t>
            </a:r>
            <a:endParaRPr sz="800" b="0" i="0">
              <a:solidFill>
                <a:srgbClr val="1E293B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" y="54864"/>
            <a:ext cx="10058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WEB PLATFORM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4592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Web vs CLI — Why Browser-First Wins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7665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64748B"/>
                </a:solidFill>
              </a:rPr>
              <a:t>05 / 15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28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624828"/>
            <a:ext cx="11823192" cy="20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DAST AI Framework  ·  Accenture Security  ·  2026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201168" y="1078992"/>
            <a:ext cx="11786616" cy="475488"/>
          </a:xfrm>
          <a:prstGeom prst="ellipse">
            <a:avLst/>
          </a:prstGeom>
          <a:solidFill>
            <a:srgbClr val="F1F5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1168" y="1078992"/>
            <a:ext cx="54864" cy="47548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133856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284C7"/>
                </a:solidFill>
              </a:rPr>
              <a:t>The same 7-pillar AI engine — without needing to touch a terminal.</a:t>
            </a:r>
            <a:endParaRPr sz="1200" b="1" i="0">
              <a:solidFill>
                <a:srgbClr val="0284C7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01168" y="1664208"/>
            <a:ext cx="3291840" cy="32918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" y="1719072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CAPABILITY</a:t>
            </a:r>
            <a:endParaRPr sz="900" b="1" i="0">
              <a:solidFill>
                <a:srgbClr val="FFFFFF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493008" y="1664208"/>
            <a:ext cx="4334256" cy="32918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1719072"/>
            <a:ext cx="415137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WEB UI</a:t>
            </a:r>
            <a:endParaRPr sz="900" b="1" i="0">
              <a:solidFill>
                <a:srgbClr val="FFFFFF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827264" y="1664208"/>
            <a:ext cx="4160520" cy="32918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18704" y="1719072"/>
            <a:ext cx="39776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CLI ONLY</a:t>
            </a:r>
            <a:endParaRPr sz="900" b="1" i="0">
              <a:solidFill>
                <a:srgbClr val="FFFFFF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201168" y="1993392"/>
            <a:ext cx="11786616" cy="4572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01168" y="1993392"/>
            <a:ext cx="36576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0896" y="208483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</a:rPr>
              <a:t>Launch a scan</a:t>
            </a:r>
            <a:endParaRPr sz="850" b="1" i="0">
              <a:solidFill>
                <a:srgbClr val="1E293B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566160" y="2084832"/>
            <a:ext cx="4197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284C7"/>
                </a:solidFill>
              </a:rPr>
              <a:t>  Click  Start Scan  in the browser</a:t>
            </a:r>
            <a:endParaRPr sz="850" b="0" i="0">
              <a:solidFill>
                <a:srgbClr val="0284C7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918704" y="2084832"/>
            <a:ext cx="40233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</a:rPr>
              <a:t>python main.py --profile ...</a:t>
            </a:r>
            <a:endParaRPr sz="800" b="0" i="1">
              <a:solidFill>
                <a:srgbClr val="64748B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01168" y="2450592"/>
            <a:ext cx="11786616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01168" y="2450592"/>
            <a:ext cx="36576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0896" y="254203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</a:rPr>
              <a:t>Team collaboration</a:t>
            </a:r>
            <a:endParaRPr sz="850" b="1" i="0">
              <a:solidFill>
                <a:srgbClr val="1E293B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566160" y="2542032"/>
            <a:ext cx="4197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284C7"/>
                </a:solidFill>
              </a:rPr>
              <a:t>  RBAC: Manager · Scanner · Viewer</a:t>
            </a:r>
            <a:endParaRPr sz="850" b="0" i="0">
              <a:solidFill>
                <a:srgbClr val="0284C7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918704" y="2542032"/>
            <a:ext cx="40233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</a:rPr>
              <a:t>Single terminal user</a:t>
            </a:r>
            <a:endParaRPr sz="800" b="0" i="1">
              <a:solidFill>
                <a:srgbClr val="64748B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01168" y="2907792"/>
            <a:ext cx="11786616" cy="4572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01168" y="2907792"/>
            <a:ext cx="36576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99923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</a:rPr>
              <a:t>Watch live progress</a:t>
            </a:r>
            <a:endParaRPr sz="850" b="1" i="0">
              <a:solidFill>
                <a:srgbClr val="1E293B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566160" y="2999232"/>
            <a:ext cx="4197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284C7"/>
                </a:solidFill>
              </a:rPr>
              <a:t>  WebSocket log stream in browser</a:t>
            </a:r>
            <a:endParaRPr sz="850" b="0" i="0">
              <a:solidFill>
                <a:srgbClr val="0284C7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918704" y="2999232"/>
            <a:ext cx="40233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</a:rPr>
              <a:t>Watch terminal scroll</a:t>
            </a:r>
            <a:endParaRPr sz="800" b="0" i="1">
              <a:solidFill>
                <a:srgbClr val="64748B"/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201168" y="3364992"/>
            <a:ext cx="11786616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01168" y="3364992"/>
            <a:ext cx="36576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" y="345643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</a:rPr>
              <a:t>Schedule recurring scans</a:t>
            </a:r>
            <a:endParaRPr sz="850" b="1" i="0">
              <a:solidFill>
                <a:srgbClr val="1E293B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566160" y="3456432"/>
            <a:ext cx="4197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284C7"/>
                </a:solidFill>
              </a:rPr>
              <a:t>  Calendar UI — daily / weekly / monthly</a:t>
            </a:r>
            <a:endParaRPr sz="850" b="0" i="0">
              <a:solidFill>
                <a:srgbClr val="0284C7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918704" y="3456432"/>
            <a:ext cx="40233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</a:rPr>
              <a:t>Manual cron job</a:t>
            </a:r>
            <a:endParaRPr sz="800" b="0" i="1">
              <a:solidFill>
                <a:srgbClr val="64748B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01168" y="3822191"/>
            <a:ext cx="11786616" cy="4572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01168" y="3822191"/>
            <a:ext cx="36576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0896" y="3913631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</a:rPr>
              <a:t>Download reports</a:t>
            </a:r>
            <a:endParaRPr sz="850" b="1" i="0">
              <a:solidFill>
                <a:srgbClr val="1E293B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566160" y="3913631"/>
            <a:ext cx="4197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284C7"/>
                </a:solidFill>
              </a:rPr>
              <a:t>  One-click — XLSX, DOCX, HTML, SARIF</a:t>
            </a:r>
            <a:endParaRPr sz="850" b="0" i="0">
              <a:solidFill>
                <a:srgbClr val="0284C7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918704" y="3913631"/>
            <a:ext cx="40233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</a:rPr>
              <a:t>Navigate filesystem</a:t>
            </a:r>
            <a:endParaRPr sz="800" b="0" i="1">
              <a:solidFill>
                <a:srgbClr val="64748B"/>
              </a:solidFill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201168" y="4279392"/>
            <a:ext cx="11786616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01168" y="4279392"/>
            <a:ext cx="36576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0896" y="4370831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</a:rPr>
              <a:t>Switch AI model</a:t>
            </a:r>
            <a:endParaRPr sz="850" b="1" i="0">
              <a:solidFill>
                <a:srgbClr val="1E293B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566160" y="4370831"/>
            <a:ext cx="4197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284C7"/>
                </a:solidFill>
              </a:rPr>
              <a:t>  Settings page — Claude / GPT / Ollama</a:t>
            </a:r>
            <a:endParaRPr sz="850" b="0" i="0">
              <a:solidFill>
                <a:srgbClr val="0284C7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7918704" y="4370831"/>
            <a:ext cx="40233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</a:rPr>
              <a:t>Edit config.txt, restart</a:t>
            </a:r>
            <a:endParaRPr sz="800" b="0" i="1">
              <a:solidFill>
                <a:srgbClr val="64748B"/>
              </a:solidFill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01168" y="4736592"/>
            <a:ext cx="11786616" cy="4572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1168" y="4736592"/>
            <a:ext cx="36576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0896" y="4828031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</a:rPr>
              <a:t>Manage auth profiles</a:t>
            </a:r>
            <a:endParaRPr sz="850" b="1" i="0">
              <a:solidFill>
                <a:srgbClr val="1E293B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3566160" y="4828031"/>
            <a:ext cx="4197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284C7"/>
                </a:solidFill>
              </a:rPr>
              <a:t>  Form UI — HAR, OAuth, TOTP, API Key</a:t>
            </a:r>
            <a:endParaRPr sz="850" b="0" i="0">
              <a:solidFill>
                <a:srgbClr val="0284C7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7918704" y="4828031"/>
            <a:ext cx="40233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</a:rPr>
              <a:t>Edit JSON files</a:t>
            </a:r>
            <a:endParaRPr sz="800" b="0" i="1">
              <a:solidFill>
                <a:srgbClr val="64748B"/>
              </a:solidFill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01168" y="5193792"/>
            <a:ext cx="11786616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01168" y="5193792"/>
            <a:ext cx="36576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0896" y="5285231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</a:rPr>
              <a:t>View finding trends</a:t>
            </a:r>
            <a:endParaRPr sz="850" b="1" i="0">
              <a:solidFill>
                <a:srgbClr val="1E293B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566160" y="5285231"/>
            <a:ext cx="4197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284C7"/>
                </a:solidFill>
              </a:rPr>
              <a:t>  OWASP heatmap, regression chart</a:t>
            </a:r>
            <a:endParaRPr sz="850" b="0" i="0">
              <a:solidFill>
                <a:srgbClr val="0284C7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7918704" y="5285231"/>
            <a:ext cx="40233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</a:rPr>
              <a:t>Read raw JSON output</a:t>
            </a:r>
            <a:endParaRPr sz="800" b="0" i="1">
              <a:solidFill>
                <a:srgbClr val="64748B"/>
              </a:solidFill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201168" y="5650992"/>
            <a:ext cx="11786616" cy="4572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01168" y="5650992"/>
            <a:ext cx="36576" cy="4572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10896" y="5742431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</a:rPr>
              <a:t>Retest a single finding</a:t>
            </a:r>
            <a:endParaRPr sz="850" b="1" i="0">
              <a:solidFill>
                <a:srgbClr val="1E293B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3566160" y="5742431"/>
            <a:ext cx="4197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284C7"/>
                </a:solidFill>
              </a:rPr>
              <a:t>  Smart Retest button per finding</a:t>
            </a:r>
            <a:endParaRPr sz="850" b="0" i="0">
              <a:solidFill>
                <a:srgbClr val="0284C7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918704" y="5742431"/>
            <a:ext cx="40233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</a:rPr>
              <a:t>Re-run full pipeline</a:t>
            </a:r>
            <a:endParaRPr sz="800" b="0" i="1">
              <a:solidFill>
                <a:srgbClr val="64748B"/>
              </a:solidFill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3474720" y="1664208"/>
            <a:ext cx="22860" cy="444398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808976" y="1664208"/>
            <a:ext cx="22860" cy="444398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" y="54864"/>
            <a:ext cx="10058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WEB PLATFORM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4592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Web Dashboard — Scan-to-Report in Your Browser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7665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64748B"/>
                </a:solidFill>
              </a:rPr>
              <a:t>04 / 15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28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624828"/>
            <a:ext cx="11823192" cy="20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 DAST AI Framework  ·  Accenture Security  ·  2026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13" name="Oval 12"/>
          <p:cNvSpPr/>
          <p:nvPr/>
        </p:nvSpPr>
        <p:spPr>
          <a:xfrm>
            <a:off x="7571231" y="1078992"/>
            <a:ext cx="4425696" cy="5376672"/>
          </a:xfrm>
          <a:prstGeom prst="ellipse">
            <a:avLst/>
          </a:prstGeom>
          <a:solidFill>
            <a:srgbClr val="F1F5F9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71231" y="1078992"/>
            <a:ext cx="4425696" cy="32918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9248" y="1115568"/>
            <a:ext cx="4187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WHAT YOU SEE IN ONE SCREEN</a:t>
            </a:r>
            <a:endParaRPr sz="850" b="1" i="0">
              <a:solidFill>
                <a:srgbClr val="FFFFFF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644383" y="1554480"/>
            <a:ext cx="4279392" cy="694944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44383" y="1554480"/>
            <a:ext cx="54864" cy="69494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0688" y="1645920"/>
            <a:ext cx="40416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Launch or schedule any scan
from one browser screen</a:t>
            </a:r>
            <a:endParaRPr sz="900" b="0" i="0">
              <a:solidFill>
                <a:srgbClr val="1E293B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644383" y="2322576"/>
            <a:ext cx="4279392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44383" y="2322576"/>
            <a:ext cx="54864" cy="69494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90688" y="2414016"/>
            <a:ext cx="40416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7-Pillar Pipeline Health —
per-pillar status at a glance</a:t>
            </a:r>
            <a:endParaRPr sz="900" b="0" i="0">
              <a:solidFill>
                <a:srgbClr val="1E293B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644383" y="3090672"/>
            <a:ext cx="4279392" cy="694944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44383" y="3090672"/>
            <a:ext cx="54864" cy="69494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8" y="3182112"/>
            <a:ext cx="40416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Severity KPI tiles — Critical,
High, Medium, Low, FP Rate</a:t>
            </a:r>
            <a:endParaRPr sz="900" b="0" i="0">
              <a:solidFill>
                <a:srgbClr val="1E293B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644383" y="3858768"/>
            <a:ext cx="4279392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44383" y="3858768"/>
            <a:ext cx="54864" cy="694944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90688" y="3950207"/>
            <a:ext cx="40416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Per-app scan coverage with
compliance status indicator</a:t>
            </a:r>
            <a:endParaRPr sz="900" b="0" i="0">
              <a:solidFill>
                <a:srgbClr val="1E293B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7644383" y="4626864"/>
            <a:ext cx="4279392" cy="694944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44383" y="4626864"/>
            <a:ext cx="54864" cy="69494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8" y="4718303"/>
            <a:ext cx="40416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One-click report download:
XLSX · DOCX · HTML · SARIF</a:t>
            </a:r>
            <a:endParaRPr sz="900" b="0" i="0">
              <a:solidFill>
                <a:srgbClr val="1E293B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644383" y="5394960"/>
            <a:ext cx="4279392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644383" y="5394960"/>
            <a:ext cx="54864" cy="694944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90688" y="5486400"/>
            <a:ext cx="40416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Role-based access —
Manager · Scanner · Viewer</a:t>
            </a:r>
            <a:endParaRPr sz="900" b="0" i="0">
              <a:solidFill>
                <a:srgbClr val="1E293B"/>
              </a:solidFill>
            </a:endParaRPr>
          </a:p>
        </p:txBody>
      </p:sp>
      <p:pic>
        <p:nvPicPr>
          <p:cNvPr id="34" name="Picture 3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65" y="1097280"/>
            <a:ext cx="7353935" cy="5364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" y="54864"/>
            <a:ext cx="10058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WEB PLATFORM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4592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Dashboard Walkthrough — Key Pages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7665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64748B"/>
                </a:solidFill>
              </a:rPr>
              <a:t>06 / 15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01168" y="3529584"/>
            <a:ext cx="5888736" cy="3291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3529584"/>
            <a:ext cx="50292" cy="32918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" y="3566160"/>
            <a:ext cx="5705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284C7"/>
                </a:solidFill>
              </a:rPr>
              <a:t>  Scan Management</a:t>
            </a:r>
            <a:endParaRPr sz="850" b="1" i="0">
              <a:solidFill>
                <a:srgbClr val="0284C7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2608" y="3699002"/>
            <a:ext cx="5705856" cy="20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1E293B"/>
                </a:solidFill>
              </a:rPr>
              <a:t>Launch, cancel, and rerun scans — with full status history and duration tracking</a:t>
            </a:r>
            <a:endParaRPr sz="750" b="0" i="1">
              <a:solidFill>
                <a:srgbClr val="1E293B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18504" y="3529584"/>
            <a:ext cx="5888736" cy="3291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18504" y="3529584"/>
            <a:ext cx="50292" cy="32918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3566160"/>
            <a:ext cx="5705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284C7"/>
                </a:solidFill>
              </a:rPr>
              <a:t>  Findings &amp; Triage</a:t>
            </a:r>
            <a:endParaRPr sz="850" b="1" i="0">
              <a:solidFill>
                <a:srgbClr val="0284C7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9944" y="3671062"/>
            <a:ext cx="5705856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1E293B"/>
                </a:solidFill>
              </a:rPr>
              <a:t>Filter by severity, OWASP category, or FP status — Smart Retest any finding instantly</a:t>
            </a:r>
            <a:endParaRPr sz="750" b="0" i="1">
              <a:solidFill>
                <a:srgbClr val="1E293B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01168" y="6437376"/>
            <a:ext cx="5888736" cy="3291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01168" y="6437376"/>
            <a:ext cx="50292" cy="32918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6473952"/>
            <a:ext cx="5705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284C7"/>
                </a:solidFill>
              </a:rPr>
              <a:t>  AI Analysis &amp; FP Intelligence</a:t>
            </a:r>
            <a:endParaRPr sz="850" b="1" i="0">
              <a:solidFill>
                <a:srgbClr val="0284C7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92608" y="6602984"/>
            <a:ext cx="5705856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1E293B"/>
                </a:solidFill>
              </a:rPr>
              <a:t>7-pillar AI engine results — FP rate, severity re-classification, per-app breakdown</a:t>
            </a:r>
            <a:endParaRPr sz="750" b="0" i="1">
              <a:solidFill>
                <a:srgbClr val="1E293B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318504" y="6437376"/>
            <a:ext cx="5888736" cy="3291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18504" y="6437376"/>
            <a:ext cx="50292" cy="32918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9944" y="6473952"/>
            <a:ext cx="5705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284C7"/>
                </a:solidFill>
              </a:rPr>
              <a:t>  Multi-LLM &amp; Configuration</a:t>
            </a:r>
            <a:endParaRPr sz="850" b="1" i="0">
              <a:solidFill>
                <a:srgbClr val="0284C7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409944" y="6607429"/>
            <a:ext cx="5705856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1E293B"/>
                </a:solidFill>
              </a:rPr>
              <a:t>Switch between Claude, OpenAI, and Ollama without restarting — hot-swap in the UI</a:t>
            </a:r>
            <a:endParaRPr sz="750" b="0" i="1">
              <a:solidFill>
                <a:srgbClr val="1E293B"/>
              </a:solidFill>
            </a:endParaRPr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295" y="3993515"/>
            <a:ext cx="5888355" cy="2447925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95" y="1069340"/>
            <a:ext cx="5892165" cy="2456815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250" y="1078865"/>
            <a:ext cx="5870575" cy="2458720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8885" y="4002405"/>
            <a:ext cx="5888355" cy="24574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15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" y="54864"/>
            <a:ext cx="10058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WEB PLATFORM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4592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Dashboard Walkthrough — Key Pages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7665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64748B"/>
                </a:solidFill>
              </a:rPr>
              <a:t>06 / 15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01168" y="3529584"/>
            <a:ext cx="5888736" cy="3291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3529584"/>
            <a:ext cx="50292" cy="32918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" y="3566160"/>
            <a:ext cx="5705856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284C7"/>
                </a:solidFill>
              </a:rPr>
              <a:t>  </a:t>
            </a:r>
            <a:r>
              <a:rPr lang="en-US" sz="850" b="1" i="0">
                <a:solidFill>
                  <a:srgbClr val="0284C7"/>
                </a:solidFill>
              </a:rPr>
              <a:t>Web Asset:</a:t>
            </a:r>
            <a:endParaRPr lang="en-US" sz="850" b="1" i="0">
              <a:solidFill>
                <a:srgbClr val="0284C7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2608" y="3699002"/>
            <a:ext cx="5705856" cy="20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750" b="0" i="1">
                <a:solidFill>
                  <a:srgbClr val="1E293B"/>
                </a:solidFill>
              </a:rPr>
              <a:t>Werb Asset manage, Auth Record selection, Scan Option Selection.  </a:t>
            </a:r>
            <a:endParaRPr lang="en-US" sz="750" b="0" i="1">
              <a:solidFill>
                <a:srgbClr val="1E293B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18504" y="3529584"/>
            <a:ext cx="5888736" cy="3291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18504" y="3529584"/>
            <a:ext cx="50292" cy="32918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3564890"/>
            <a:ext cx="5705856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284C7"/>
                </a:solidFill>
              </a:rPr>
              <a:t>  </a:t>
            </a:r>
            <a:r>
              <a:rPr lang="en-US" sz="850" b="1" i="0">
                <a:solidFill>
                  <a:srgbClr val="0284C7"/>
                </a:solidFill>
              </a:rPr>
              <a:t>Option Profile</a:t>
            </a:r>
            <a:endParaRPr lang="en-US" sz="850" b="1" i="0">
              <a:solidFill>
                <a:srgbClr val="0284C7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9944" y="3700907"/>
            <a:ext cx="5705856" cy="20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750" b="0" i="1">
                <a:solidFill>
                  <a:srgbClr val="1E293B"/>
                </a:solidFill>
              </a:rPr>
              <a:t>Testing Scope Defination. Rate Litmiting, Scam Coverage</a:t>
            </a:r>
            <a:endParaRPr sz="750" b="0" i="1">
              <a:solidFill>
                <a:srgbClr val="1E293B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01168" y="6437376"/>
            <a:ext cx="5888736" cy="3291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01168" y="6437376"/>
            <a:ext cx="50292" cy="32918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6473952"/>
            <a:ext cx="5705856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284C7"/>
                </a:solidFill>
              </a:rPr>
              <a:t>  </a:t>
            </a:r>
            <a:r>
              <a:rPr lang="en-US" sz="850" b="1" i="0">
                <a:solidFill>
                  <a:srgbClr val="0284C7"/>
                </a:solidFill>
              </a:rPr>
              <a:t>Auth Record:</a:t>
            </a:r>
            <a:endParaRPr lang="en-US" sz="850" b="1" i="0">
              <a:solidFill>
                <a:srgbClr val="0284C7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92608" y="6602984"/>
            <a:ext cx="5705856" cy="20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750" b="0" i="1">
                <a:solidFill>
                  <a:srgbClr val="1E293B"/>
                </a:solidFill>
              </a:rPr>
              <a:t>Authentication Record Management</a:t>
            </a:r>
            <a:endParaRPr lang="en-US" sz="750" b="0" i="1">
              <a:solidFill>
                <a:srgbClr val="1E293B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318504" y="6437376"/>
            <a:ext cx="5888736" cy="3291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18504" y="6437376"/>
            <a:ext cx="50292" cy="32918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9944" y="6473952"/>
            <a:ext cx="5705856" cy="2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284C7"/>
                </a:solidFill>
              </a:rPr>
              <a:t>  </a:t>
            </a:r>
            <a:r>
              <a:rPr lang="en-US" sz="850" b="1" i="0">
                <a:solidFill>
                  <a:srgbClr val="0284C7"/>
                </a:solidFill>
              </a:rPr>
              <a:t>User management and Help Page</a:t>
            </a:r>
            <a:endParaRPr lang="en-US" sz="850" b="1" i="0">
              <a:solidFill>
                <a:srgbClr val="0284C7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409944" y="6607429"/>
            <a:ext cx="5705856" cy="20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750" b="0" i="1">
                <a:solidFill>
                  <a:srgbClr val="1E293B"/>
                </a:solidFill>
              </a:rPr>
              <a:t>Manage User and Help page</a:t>
            </a:r>
            <a:endParaRPr lang="en-US" sz="750" b="0" i="1">
              <a:solidFill>
                <a:srgbClr val="1E293B"/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245" y="1001395"/>
            <a:ext cx="5907405" cy="255016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7615" y="972185"/>
            <a:ext cx="5797550" cy="257683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30" y="3992880"/>
            <a:ext cx="5888355" cy="2492375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8250" y="3980180"/>
            <a:ext cx="2670810" cy="2505710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5740" y="4004310"/>
            <a:ext cx="3019425" cy="248221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" y="54864"/>
            <a:ext cx="10058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284C7"/>
                </a:solidFill>
              </a:rPr>
              <a:t>STRATEGIC PLAN</a:t>
            </a:r>
            <a:endParaRPr sz="800" b="1" i="0">
              <a:solidFill>
                <a:srgbClr val="0284C7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4592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Roadmap — Phase Plan</a:t>
            </a:r>
            <a:endParaRPr sz="2400" b="1" i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75720" y="67665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64748B"/>
                </a:solidFill>
              </a:rPr>
              <a:t>14 / 15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28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624828"/>
            <a:ext cx="11823192" cy="20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DAST AI Framework  ·  Accenture Security  ·  2026</a:t>
            </a:r>
            <a:endParaRPr sz="750" b="0" i="0">
              <a:solidFill>
                <a:srgbClr val="64748B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228600" y="1078992"/>
            <a:ext cx="3840480" cy="62179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" y="1115568"/>
            <a:ext cx="3108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Phase 1  COMPLETE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14" name="Oval 13"/>
          <p:cNvSpPr/>
          <p:nvPr/>
        </p:nvSpPr>
        <p:spPr>
          <a:xfrm>
            <a:off x="2843784" y="1170432"/>
            <a:ext cx="1097280" cy="384048"/>
          </a:xfrm>
          <a:prstGeom prst="ellipse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43784" y="1170432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284C7"/>
                </a:solidFill>
              </a:rPr>
              <a:t>NOW</a:t>
            </a:r>
            <a:endParaRPr sz="950" b="1" i="0">
              <a:solidFill>
                <a:srgbClr val="0284C7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74320" y="1847088"/>
            <a:ext cx="3749039" cy="4572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847088"/>
            <a:ext cx="45720" cy="4572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1911095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  ZAP + Nmap scanning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74320" y="2359152"/>
            <a:ext cx="3749039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2359152"/>
            <a:ext cx="45720" cy="4572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42316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  AI FP reduction (hybrid engine)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74320" y="2871216"/>
            <a:ext cx="3749039" cy="4572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2871216"/>
            <a:ext cx="45720" cy="4572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2935224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  7-Pillar AI enrichment pipeline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3749039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383280"/>
            <a:ext cx="45720" cy="4572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447288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  Excel · Word · SARIF · HTML reports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74320" y="3895344"/>
            <a:ext cx="3749039" cy="4572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3895344"/>
            <a:ext cx="45720" cy="4572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95935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  HAR · Form · TOTP authentication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74320" y="4407408"/>
            <a:ext cx="3749039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4407408"/>
            <a:ext cx="45720" cy="4572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4471416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  Browser dashboard  (RBAC, WebSocket)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34" name="Oval 33"/>
          <p:cNvSpPr/>
          <p:nvPr/>
        </p:nvSpPr>
        <p:spPr>
          <a:xfrm>
            <a:off x="4206240" y="1078992"/>
            <a:ext cx="3840480" cy="621792"/>
          </a:xfrm>
          <a:prstGeom prst="ellipse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34255" y="1115568"/>
            <a:ext cx="3108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Phase 2  IN PROGRESS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36" name="Oval 35"/>
          <p:cNvSpPr/>
          <p:nvPr/>
        </p:nvSpPr>
        <p:spPr>
          <a:xfrm>
            <a:off x="6821423" y="1170432"/>
            <a:ext cx="1097280" cy="384048"/>
          </a:xfrm>
          <a:prstGeom prst="ellipse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21423" y="1170432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5634D4"/>
                </a:solidFill>
              </a:rPr>
              <a:t>Q3 2026</a:t>
            </a:r>
            <a:endParaRPr sz="950" b="1" i="0">
              <a:solidFill>
                <a:srgbClr val="5634D4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251959" y="1847088"/>
            <a:ext cx="3749039" cy="4572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251959" y="1847088"/>
            <a:ext cx="45720" cy="457200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43400" y="1911095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  CI/CD pipeline integration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51959" y="2359152"/>
            <a:ext cx="3749039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51959" y="2359152"/>
            <a:ext cx="45720" cy="457200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43400" y="242316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  Multi-target parallel scans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251959" y="2871216"/>
            <a:ext cx="3749039" cy="4572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51959" y="2871216"/>
            <a:ext cx="45720" cy="457200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43400" y="2935224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  JIRA · ServiceNow auto-ticketing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4251959" y="3383280"/>
            <a:ext cx="3749039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251959" y="3383280"/>
            <a:ext cx="45720" cy="457200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43400" y="3447288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  CVSS v4 scoring support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4251959" y="3895344"/>
            <a:ext cx="3749039" cy="4572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51959" y="3895344"/>
            <a:ext cx="45720" cy="457200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43400" y="395935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  Slack · Teams alert webhooks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4251959" y="4407408"/>
            <a:ext cx="3749039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51959" y="4407408"/>
            <a:ext cx="45720" cy="457200"/>
          </a:xfrm>
          <a:prstGeom prst="rect">
            <a:avLst/>
          </a:prstGeom>
          <a:solidFill>
            <a:srgbClr val="563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43400" y="4471416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  Scheduled scan automation UI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56" name="Oval 55"/>
          <p:cNvSpPr/>
          <p:nvPr/>
        </p:nvSpPr>
        <p:spPr>
          <a:xfrm>
            <a:off x="8183879" y="1078992"/>
            <a:ext cx="3840480" cy="62179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11896" y="1115568"/>
            <a:ext cx="3108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Phase 3  PLANNED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58" name="Oval 57"/>
          <p:cNvSpPr/>
          <p:nvPr/>
        </p:nvSpPr>
        <p:spPr>
          <a:xfrm>
            <a:off x="10799063" y="1170432"/>
            <a:ext cx="1097280" cy="384048"/>
          </a:xfrm>
          <a:prstGeom prst="ellipse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799063" y="1170432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A580C"/>
                </a:solidFill>
              </a:rPr>
              <a:t>Q4 2026</a:t>
            </a:r>
            <a:endParaRPr sz="950" b="1" i="0">
              <a:solidFill>
                <a:srgbClr val="EA580C"/>
              </a:solidFill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8229600" y="1847088"/>
            <a:ext cx="3749039" cy="4572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229600" y="1847088"/>
            <a:ext cx="45720" cy="4572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21040" y="1911095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  Cloud-native Docker deployment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8229600" y="2359152"/>
            <a:ext cx="3749039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29600" y="2359152"/>
            <a:ext cx="45720" cy="4572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21040" y="242316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  SOC real-time dashboard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8229600" y="2871216"/>
            <a:ext cx="3749039" cy="4572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229600" y="2871216"/>
            <a:ext cx="45720" cy="4572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21040" y="2935224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  Custom LLM fine-tuning on history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8229600" y="3383280"/>
            <a:ext cx="3749039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229600" y="3383280"/>
            <a:ext cx="45720" cy="4572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21040" y="3447288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  Compliance mapping (PCI · ISO 27001)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8229600" y="3895344"/>
            <a:ext cx="3749039" cy="4572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29600" y="3895344"/>
            <a:ext cx="45720" cy="4572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321040" y="395935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  Executive risk score trending</a:t>
            </a:r>
            <a:endParaRPr sz="950" b="0" i="0">
              <a:solidFill>
                <a:srgbClr val="1E293B"/>
              </a:solidFill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8229600" y="4407408"/>
            <a:ext cx="3749039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229600" y="4407408"/>
            <a:ext cx="45720" cy="4572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21040" y="4471416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</a:rPr>
              <a:t>  Multi-tenant workspace support</a:t>
            </a:r>
            <a:endParaRPr sz="950" b="0" i="0">
              <a:solidFill>
                <a:srgbClr val="1E293B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24130"/>
            <a:ext cx="12188825" cy="6610350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97730" y="3106420"/>
            <a:ext cx="3067685" cy="119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>
                <a:solidFill>
                  <a:srgbClr val="0284C7"/>
                </a:solidFill>
              </a:rPr>
              <a:t>Thank You</a:t>
            </a:r>
            <a:endParaRPr lang="en-US" sz="3600" b="1" i="0">
              <a:solidFill>
                <a:srgbClr val="0284C7"/>
              </a:solidFill>
            </a:endParaRPr>
          </a:p>
          <a:p>
            <a:pPr algn="l"/>
            <a:endParaRPr lang="en-US" sz="3600" b="1" i="0">
              <a:solidFill>
                <a:srgbClr val="0284C7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611493"/>
            <a:ext cx="12188952" cy="256032"/>
          </a:xfrm>
          <a:prstGeom prst="rect">
            <a:avLst/>
          </a:prstGeom>
          <a:solidFill>
            <a:srgbClr val="0F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11493"/>
            <a:ext cx="12188952" cy="228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611493"/>
            <a:ext cx="11823192" cy="20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DAST AI Framework  ·  Accenture Security  ·  2026</a:t>
            </a:r>
            <a:endParaRPr sz="750" b="0" i="0">
              <a:solidFill>
                <a:srgbClr val="64748B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11390</Words>
  <Application>WPS Presentation</Application>
  <PresentationFormat>On-screen Show (4:3)</PresentationFormat>
  <Paragraphs>903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8" baseType="lpstr">
      <vt:lpstr>Arial</vt:lpstr>
      <vt:lpstr>SimSun</vt:lpstr>
      <vt:lpstr>Wingdings</vt:lpstr>
      <vt:lpstr>Arial</vt:lpstr>
      <vt:lpstr>DejaVu Sans</vt:lpstr>
      <vt:lpstr>Calibri</vt:lpstr>
      <vt:lpstr>Noto Sans Symbols2</vt:lpstr>
      <vt:lpstr>Microsoft YaHei</vt:lpstr>
      <vt:lpstr>文泉驿正黑</vt:lpstr>
      <vt:lpstr>Arial Unicode MS</vt:lpstr>
      <vt:lpstr>Noto Color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devsecops</cp:lastModifiedBy>
  <cp:revision>8</cp:revision>
  <dcterms:created xsi:type="dcterms:W3CDTF">2026-05-21T11:11:18Z</dcterms:created>
  <dcterms:modified xsi:type="dcterms:W3CDTF">2026-05-21T11:11:18Z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